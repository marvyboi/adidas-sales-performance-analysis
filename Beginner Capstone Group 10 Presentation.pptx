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1" r:id="rId3"/>
    <p:sldId id="257" r:id="rId4"/>
    <p:sldId id="258" r:id="rId5"/>
    <p:sldId id="259" r:id="rId6"/>
    <p:sldId id="260" r:id="rId7"/>
    <p:sldId id="271" r:id="rId8"/>
    <p:sldId id="263" r:id="rId9"/>
    <p:sldId id="262" r:id="rId10"/>
    <p:sldId id="264" r:id="rId11"/>
    <p:sldId id="287" r:id="rId12"/>
    <p:sldId id="288" r:id="rId13"/>
    <p:sldId id="286" r:id="rId14"/>
    <p:sldId id="284" r:id="rId15"/>
    <p:sldId id="279" r:id="rId16"/>
    <p:sldId id="272" r:id="rId17"/>
    <p:sldId id="280" r:id="rId18"/>
    <p:sldId id="281" r:id="rId19"/>
    <p:sldId id="282" r:id="rId20"/>
    <p:sldId id="283" r:id="rId21"/>
    <p:sldId id="268" r:id="rId22"/>
    <p:sldId id="270" r:id="rId23"/>
  </p:sldIdLst>
  <p:sldSz cx="18288000" cy="10287000"/>
  <p:notesSz cx="6858000" cy="9144000"/>
  <p:embeddedFontLst>
    <p:embeddedFont>
      <p:font typeface="Lucida Calligraphy" panose="03010101010101010101" pitchFamily="66" charset="0"/>
      <p:regular r:id="rId24"/>
    </p:embeddedFont>
    <p:embeddedFont>
      <p:font typeface="Montserrat" panose="00000500000000000000" pitchFamily="2" charset="0"/>
      <p:regular r:id="rId25"/>
      <p:bold r:id="rId26"/>
      <p:italic r:id="rId27"/>
    </p:embeddedFont>
    <p:embeddedFont>
      <p:font typeface="Montserrat Bold" panose="00000800000000000000" charset="0"/>
      <p:regular r:id="rId28"/>
    </p:embeddedFont>
    <p:embeddedFont>
      <p:font typeface="Montserrat Medium" panose="00000600000000000000" pitchFamily="2" charset="0"/>
      <p:regular r:id="rId29"/>
      <p:italic r:id="rId30"/>
    </p:embeddedFont>
    <p:embeddedFont>
      <p:font typeface="Prachason Neue Expanded" panose="020B0604020202020204" charset="-34"/>
      <p:regular r:id="rId31"/>
    </p:embeddedFont>
    <p:embeddedFont>
      <p:font typeface="Prachason Neue Expanded Bold" panose="020B0604020202020204" charset="-3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1144"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4365964" y="6419555"/>
            <a:ext cx="10267498" cy="10267498"/>
          </a:xfrm>
          <a:custGeom>
            <a:avLst/>
            <a:gdLst/>
            <a:ahLst/>
            <a:cxnLst/>
            <a:rect l="l" t="t" r="r" b="b"/>
            <a:pathLst>
              <a:path w="10267498" h="10267498">
                <a:moveTo>
                  <a:pt x="0" y="0"/>
                </a:moveTo>
                <a:lnTo>
                  <a:pt x="10267498" y="0"/>
                </a:lnTo>
                <a:lnTo>
                  <a:pt x="10267498" y="10267498"/>
                </a:lnTo>
                <a:lnTo>
                  <a:pt x="0" y="102674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3964114" y="-4251638"/>
            <a:ext cx="10846260" cy="8229600"/>
          </a:xfrm>
          <a:custGeom>
            <a:avLst/>
            <a:gdLst/>
            <a:ahLst/>
            <a:cxnLst/>
            <a:rect l="l" t="t" r="r" b="b"/>
            <a:pathLst>
              <a:path w="10846260" h="8229600">
                <a:moveTo>
                  <a:pt x="0" y="0"/>
                </a:moveTo>
                <a:lnTo>
                  <a:pt x="10846260" y="0"/>
                </a:lnTo>
                <a:lnTo>
                  <a:pt x="10846260" y="8229600"/>
                </a:lnTo>
                <a:lnTo>
                  <a:pt x="0" y="8229600"/>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680004" y="3781842"/>
            <a:ext cx="16927991" cy="2123658"/>
          </a:xfrm>
          <a:prstGeom prst="rect">
            <a:avLst/>
          </a:prstGeom>
        </p:spPr>
        <p:txBody>
          <a:bodyPr lIns="0" tIns="0" rIns="0" bIns="0" rtlCol="0" anchor="t">
            <a:spAutoFit/>
          </a:bodyPr>
          <a:lstStyle/>
          <a:p>
            <a:pPr algn="ctr">
              <a:lnSpc>
                <a:spcPct val="150000"/>
              </a:lnSpc>
            </a:pPr>
            <a:r>
              <a:rPr lang="en-US" sz="4800" b="1" dirty="0">
                <a:solidFill>
                  <a:srgbClr val="DFDEE0"/>
                </a:solidFill>
                <a:latin typeface="Prachason Neue Expanded Bold"/>
                <a:ea typeface="Prachason Neue Expanded Bold"/>
                <a:cs typeface="Prachason Neue Expanded Bold"/>
                <a:sym typeface="Prachason Neue Expanded Bold"/>
              </a:rPr>
              <a:t>ADIDAS SALES PERFORMANCE DASHBOARD</a:t>
            </a:r>
          </a:p>
        </p:txBody>
      </p:sp>
      <p:sp>
        <p:nvSpPr>
          <p:cNvPr id="5" name="Freeform 5"/>
          <p:cNvSpPr/>
          <p:nvPr/>
        </p:nvSpPr>
        <p:spPr>
          <a:xfrm rot="-3326260">
            <a:off x="8011804" y="5929289"/>
            <a:ext cx="9500260" cy="8229600"/>
          </a:xfrm>
          <a:custGeom>
            <a:avLst/>
            <a:gdLst/>
            <a:ahLst/>
            <a:cxnLst/>
            <a:rect l="l" t="t" r="r" b="b"/>
            <a:pathLst>
              <a:path w="9500260" h="8229600">
                <a:moveTo>
                  <a:pt x="0" y="0"/>
                </a:moveTo>
                <a:lnTo>
                  <a:pt x="9500260" y="0"/>
                </a:lnTo>
                <a:lnTo>
                  <a:pt x="9500260" y="8229600"/>
                </a:lnTo>
                <a:lnTo>
                  <a:pt x="0" y="822960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2489972" y="5974028"/>
            <a:ext cx="4940930" cy="909864"/>
          </a:xfrm>
          <a:prstGeom prst="rect">
            <a:avLst/>
          </a:prstGeom>
        </p:spPr>
        <p:txBody>
          <a:bodyPr lIns="0" tIns="0" rIns="0" bIns="0" rtlCol="0" anchor="t">
            <a:spAutoFit/>
          </a:bodyPr>
          <a:lstStyle/>
          <a:p>
            <a:pPr algn="l">
              <a:lnSpc>
                <a:spcPts val="3713"/>
              </a:lnSpc>
            </a:pPr>
            <a:r>
              <a:rPr lang="en-US" sz="2509" b="1" dirty="0">
                <a:solidFill>
                  <a:srgbClr val="FFFFFF"/>
                </a:solidFill>
                <a:latin typeface="Montserrat"/>
                <a:ea typeface="Montserrat"/>
                <a:cs typeface="Montserrat"/>
                <a:sym typeface="Montserrat"/>
              </a:rPr>
              <a:t>BETECHIFIED</a:t>
            </a:r>
            <a:br>
              <a:rPr lang="en-US" sz="2509" b="1" dirty="0">
                <a:solidFill>
                  <a:srgbClr val="FFFFFF"/>
                </a:solidFill>
                <a:latin typeface="Montserrat"/>
                <a:ea typeface="Montserrat"/>
                <a:cs typeface="Montserrat"/>
                <a:sym typeface="Montserrat"/>
              </a:rPr>
            </a:br>
            <a:r>
              <a:rPr lang="en-US" sz="2509" b="1" dirty="0">
                <a:solidFill>
                  <a:srgbClr val="FFFFFF"/>
                </a:solidFill>
                <a:latin typeface="Montserrat"/>
                <a:ea typeface="Montserrat"/>
                <a:cs typeface="Montserrat"/>
                <a:sym typeface="Montserrat"/>
              </a:rPr>
              <a:t>Group 10 Project</a:t>
            </a:r>
          </a:p>
        </p:txBody>
      </p:sp>
      <p:sp>
        <p:nvSpPr>
          <p:cNvPr id="7" name="Freeform 7"/>
          <p:cNvSpPr/>
          <p:nvPr/>
        </p:nvSpPr>
        <p:spPr>
          <a:xfrm>
            <a:off x="10978923" y="-4676538"/>
            <a:ext cx="7309077" cy="7309077"/>
          </a:xfrm>
          <a:custGeom>
            <a:avLst/>
            <a:gdLst/>
            <a:ahLst/>
            <a:cxnLst/>
            <a:rect l="l" t="t" r="r" b="b"/>
            <a:pathLst>
              <a:path w="7309077" h="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8" name="Picture 7">
            <a:extLst>
              <a:ext uri="{FF2B5EF4-FFF2-40B4-BE49-F238E27FC236}">
                <a16:creationId xmlns:a16="http://schemas.microsoft.com/office/drawing/2014/main" id="{6DB2E74A-4281-0203-936D-262BDF4B234E}"/>
              </a:ext>
            </a:extLst>
          </p:cNvPr>
          <p:cNvPicPr>
            <a:picLocks noChangeAspect="1"/>
          </p:cNvPicPr>
          <p:nvPr/>
        </p:nvPicPr>
        <p:blipFill>
          <a:blip r:embed="rId6"/>
          <a:stretch>
            <a:fillRect/>
          </a:stretch>
        </p:blipFill>
        <p:spPr>
          <a:xfrm>
            <a:off x="13563600" y="266700"/>
            <a:ext cx="3157135" cy="1770743"/>
          </a:xfrm>
          <a:prstGeom prst="rect">
            <a:avLst/>
          </a:prstGeom>
          <a:ln>
            <a:noFill/>
          </a:ln>
        </p:spPr>
      </p:pic>
      <p:sp>
        <p:nvSpPr>
          <p:cNvPr id="9" name="TextBox 4">
            <a:extLst>
              <a:ext uri="{FF2B5EF4-FFF2-40B4-BE49-F238E27FC236}">
                <a16:creationId xmlns:a16="http://schemas.microsoft.com/office/drawing/2014/main" id="{A7200361-C863-B850-AE30-EB4475A4AC92}"/>
              </a:ext>
            </a:extLst>
          </p:cNvPr>
          <p:cNvSpPr txBox="1"/>
          <p:nvPr/>
        </p:nvSpPr>
        <p:spPr>
          <a:xfrm>
            <a:off x="304800" y="9745379"/>
            <a:ext cx="4963876" cy="281487"/>
          </a:xfrm>
          <a:prstGeom prst="rect">
            <a:avLst/>
          </a:prstGeom>
        </p:spPr>
        <p:txBody>
          <a:bodyPr lIns="0" tIns="0" rIns="0" bIns="0" rtlCol="0" anchor="t">
            <a:spAutoFit/>
          </a:bodyPr>
          <a:lstStyle/>
          <a:p>
            <a:pPr algn="l">
              <a:lnSpc>
                <a:spcPts val="2367"/>
              </a:lnSpc>
            </a:pPr>
            <a:r>
              <a:rPr lang="en-US" sz="1599" spc="46" dirty="0">
                <a:solidFill>
                  <a:srgbClr val="FFFFFF"/>
                </a:solidFill>
                <a:latin typeface="Montserrat"/>
                <a:ea typeface="Montserrat"/>
                <a:cs typeface="Montserrat"/>
                <a:sym typeface="Montserrat"/>
              </a:rPr>
              <a:t>© Aghe Marvellous || Data Analyst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3912702" y="138197"/>
            <a:ext cx="7309077" cy="7309077"/>
          </a:xfrm>
          <a:custGeom>
            <a:avLst/>
            <a:gdLst/>
            <a:ahLst/>
            <a:cxnLst/>
            <a:rect l="l" t="t" r="r" b="b"/>
            <a:pathLst>
              <a:path w="7309077" h="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513395" y="1699719"/>
            <a:ext cx="9500260" cy="8229600"/>
          </a:xfrm>
          <a:custGeom>
            <a:avLst/>
            <a:gdLst/>
            <a:ahLst/>
            <a:cxnLst/>
            <a:rect l="l" t="t" r="r" b="b"/>
            <a:pathLst>
              <a:path w="9500260" h="8229600">
                <a:moveTo>
                  <a:pt x="0" y="0"/>
                </a:moveTo>
                <a:lnTo>
                  <a:pt x="9500259" y="0"/>
                </a:lnTo>
                <a:lnTo>
                  <a:pt x="9500259" y="8229600"/>
                </a:lnTo>
                <a:lnTo>
                  <a:pt x="0" y="8229600"/>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3048000" y="1943100"/>
            <a:ext cx="5562600" cy="8079135"/>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 Aghe Marvellous – Acting </a:t>
            </a:r>
            <a:r>
              <a:rPr lang="en-US" sz="2100" dirty="0">
                <a:solidFill>
                  <a:srgbClr val="FFFFFF"/>
                </a:solidFill>
                <a:latin typeface="Montserrat Medium"/>
                <a:ea typeface="Montserrat Medium"/>
                <a:cs typeface="Montserrat Medium"/>
                <a:sym typeface="Montserrat Medium"/>
              </a:rPr>
              <a:t>Team Lead</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err="1">
                <a:solidFill>
                  <a:srgbClr val="FFFFFF"/>
                </a:solidFill>
                <a:latin typeface="Montserrat Bold"/>
                <a:ea typeface="Montserrat Bold"/>
                <a:cs typeface="Montserrat Bold"/>
                <a:sym typeface="Montserrat Bold"/>
              </a:rPr>
              <a:t>Akinlade</a:t>
            </a:r>
            <a:r>
              <a:rPr lang="en-US" sz="2100" dirty="0">
                <a:solidFill>
                  <a:srgbClr val="FFFFFF"/>
                </a:solidFill>
                <a:latin typeface="Montserrat Bold"/>
                <a:ea typeface="Montserrat Bold"/>
                <a:cs typeface="Montserrat Bold"/>
                <a:sym typeface="Montserrat Bold"/>
              </a:rPr>
              <a:t> </a:t>
            </a:r>
            <a:r>
              <a:rPr lang="en-US" sz="2100" dirty="0" err="1">
                <a:solidFill>
                  <a:srgbClr val="FFFFFF"/>
                </a:solidFill>
                <a:latin typeface="Montserrat Bold"/>
                <a:ea typeface="Montserrat Bold"/>
                <a:cs typeface="Montserrat Bold"/>
                <a:sym typeface="Montserrat Bold"/>
              </a:rPr>
              <a:t>Zumayyah</a:t>
            </a:r>
            <a:r>
              <a:rPr lang="en-US" sz="2100" dirty="0">
                <a:solidFill>
                  <a:srgbClr val="FFFFFF"/>
                </a:solidFill>
                <a:latin typeface="Montserrat Bold"/>
                <a:ea typeface="Montserrat Bold"/>
                <a:cs typeface="Montserrat Bold"/>
                <a:sym typeface="Montserrat Bold"/>
              </a:rPr>
              <a:t> Adeola</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Madu Elizabeth </a:t>
            </a:r>
            <a:r>
              <a:rPr lang="en-US" sz="2100" dirty="0" err="1">
                <a:solidFill>
                  <a:srgbClr val="FFFFFF"/>
                </a:solidFill>
                <a:latin typeface="Montserrat Bold"/>
                <a:ea typeface="Montserrat Bold"/>
                <a:cs typeface="Montserrat Bold"/>
                <a:sym typeface="Montserrat Bold"/>
              </a:rPr>
              <a:t>Olasunbo</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err="1">
                <a:solidFill>
                  <a:srgbClr val="FFFFFF"/>
                </a:solidFill>
                <a:latin typeface="Montserrat Bold"/>
                <a:ea typeface="Montserrat Bold"/>
                <a:cs typeface="Montserrat Bold"/>
                <a:sym typeface="Montserrat Bold"/>
              </a:rPr>
              <a:t>Ngwudike</a:t>
            </a:r>
            <a:r>
              <a:rPr lang="en-US" sz="2100" dirty="0">
                <a:solidFill>
                  <a:srgbClr val="FFFFFF"/>
                </a:solidFill>
                <a:latin typeface="Montserrat Bold"/>
                <a:ea typeface="Montserrat Bold"/>
                <a:cs typeface="Montserrat Bold"/>
                <a:sym typeface="Montserrat Bold"/>
              </a:rPr>
              <a:t> Emmanuella </a:t>
            </a:r>
            <a:r>
              <a:rPr lang="en-US" sz="2100" dirty="0" err="1">
                <a:solidFill>
                  <a:srgbClr val="FFFFFF"/>
                </a:solidFill>
                <a:latin typeface="Montserrat Bold"/>
                <a:ea typeface="Montserrat Bold"/>
                <a:cs typeface="Montserrat Bold"/>
                <a:sym typeface="Montserrat Bold"/>
              </a:rPr>
              <a:t>Ifedili</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PAULSON EMMANUEL </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Andrews </a:t>
            </a:r>
            <a:r>
              <a:rPr lang="en-US" sz="2100" dirty="0" err="1">
                <a:solidFill>
                  <a:srgbClr val="FFFFFF"/>
                </a:solidFill>
                <a:latin typeface="Montserrat Bold"/>
                <a:ea typeface="Montserrat Bold"/>
                <a:cs typeface="Montserrat Bold"/>
                <a:sym typeface="Montserrat Bold"/>
              </a:rPr>
              <a:t>Bassaw</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Ifeacho Juliet </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Ibtihaj Dako</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John O. ONDOMA</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Olajide Oluwadamilola Stella</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Olajide Mary </a:t>
            </a:r>
            <a:r>
              <a:rPr lang="en-US" sz="2100" dirty="0" err="1">
                <a:solidFill>
                  <a:srgbClr val="FFFFFF"/>
                </a:solidFill>
                <a:latin typeface="Montserrat Bold"/>
                <a:ea typeface="Montserrat Bold"/>
                <a:cs typeface="Montserrat Bold"/>
                <a:sym typeface="Montserrat Bold"/>
              </a:rPr>
              <a:t>Oluwafayokemi</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Afara Abdullah Adeshina </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Ololade Christiana </a:t>
            </a:r>
            <a:r>
              <a:rPr lang="en-US" sz="2100" dirty="0" err="1">
                <a:solidFill>
                  <a:srgbClr val="FFFFFF"/>
                </a:solidFill>
                <a:latin typeface="Montserrat Bold"/>
                <a:ea typeface="Montserrat Bold"/>
                <a:cs typeface="Montserrat Bold"/>
                <a:sym typeface="Montserrat Bold"/>
              </a:rPr>
              <a:t>Fabowale</a:t>
            </a:r>
            <a:r>
              <a:rPr lang="en-US" sz="2100" dirty="0">
                <a:solidFill>
                  <a:srgbClr val="FFFFFF"/>
                </a:solidFill>
                <a:latin typeface="Montserrat Bold"/>
                <a:ea typeface="Montserrat Bold"/>
                <a:cs typeface="Montserrat Bold"/>
                <a:sym typeface="Montserrat Bold"/>
              </a:rPr>
              <a:t> </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Precious </a:t>
            </a:r>
            <a:r>
              <a:rPr lang="en-US" sz="2100" dirty="0" err="1">
                <a:solidFill>
                  <a:srgbClr val="FFFFFF"/>
                </a:solidFill>
                <a:latin typeface="Montserrat Bold"/>
                <a:ea typeface="Montserrat Bold"/>
                <a:cs typeface="Montserrat Bold"/>
                <a:sym typeface="Montserrat Bold"/>
              </a:rPr>
              <a:t>Aluge</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Philip </a:t>
            </a:r>
            <a:r>
              <a:rPr lang="en-US" sz="2100" dirty="0" err="1">
                <a:solidFill>
                  <a:srgbClr val="FFFFFF"/>
                </a:solidFill>
                <a:latin typeface="Montserrat Bold"/>
                <a:ea typeface="Montserrat Bold"/>
                <a:cs typeface="Montserrat Bold"/>
                <a:sym typeface="Montserrat Bold"/>
              </a:rPr>
              <a:t>Quaicoe</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err="1">
                <a:solidFill>
                  <a:srgbClr val="FFFFFF"/>
                </a:solidFill>
                <a:latin typeface="Montserrat Bold"/>
                <a:ea typeface="Montserrat Bold"/>
                <a:cs typeface="Montserrat Bold"/>
                <a:sym typeface="Montserrat Bold"/>
              </a:rPr>
              <a:t>Oluwaropo</a:t>
            </a:r>
            <a:r>
              <a:rPr lang="en-US" sz="2100" dirty="0">
                <a:solidFill>
                  <a:srgbClr val="FFFFFF"/>
                </a:solidFill>
                <a:latin typeface="Montserrat Bold"/>
                <a:ea typeface="Montserrat Bold"/>
                <a:cs typeface="Montserrat Bold"/>
                <a:sym typeface="Montserrat Bold"/>
              </a:rPr>
              <a:t> </a:t>
            </a:r>
            <a:r>
              <a:rPr lang="en-US" sz="2100" dirty="0" err="1">
                <a:solidFill>
                  <a:srgbClr val="FFFFFF"/>
                </a:solidFill>
                <a:latin typeface="Montserrat Bold"/>
                <a:ea typeface="Montserrat Bold"/>
                <a:cs typeface="Montserrat Bold"/>
                <a:sym typeface="Montserrat Bold"/>
              </a:rPr>
              <a:t>Boluwade</a:t>
            </a:r>
            <a:r>
              <a:rPr lang="en-US" sz="2100" dirty="0">
                <a:solidFill>
                  <a:srgbClr val="FFFFFF"/>
                </a:solidFill>
                <a:latin typeface="Montserrat Bold"/>
                <a:ea typeface="Montserrat Bold"/>
                <a:cs typeface="Montserrat Bold"/>
                <a:sym typeface="Montserrat Bold"/>
              </a:rPr>
              <a:t> Odunayo</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 ⁠</a:t>
            </a:r>
            <a:r>
              <a:rPr lang="en-US" sz="2100" dirty="0" err="1">
                <a:solidFill>
                  <a:srgbClr val="FFFFFF"/>
                </a:solidFill>
                <a:latin typeface="Montserrat Bold"/>
                <a:ea typeface="Montserrat Bold"/>
                <a:cs typeface="Montserrat Bold"/>
                <a:sym typeface="Montserrat Bold"/>
              </a:rPr>
              <a:t>Ezak</a:t>
            </a:r>
            <a:r>
              <a:rPr lang="en-US" sz="2100" dirty="0">
                <a:solidFill>
                  <a:srgbClr val="FFFFFF"/>
                </a:solidFill>
                <a:latin typeface="Montserrat Bold"/>
                <a:ea typeface="Montserrat Bold"/>
                <a:cs typeface="Montserrat Bold"/>
                <a:sym typeface="Montserrat Bold"/>
              </a:rPr>
              <a:t> Catherine Adia</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Obiekwe Chikamso Benita</a:t>
            </a:r>
          </a:p>
          <a:p>
            <a:pPr marL="457200" indent="-457200">
              <a:buFont typeface="Arial" panose="020B0604020202020204" pitchFamily="34" charset="0"/>
              <a:buChar char="•"/>
            </a:pPr>
            <a:r>
              <a:rPr lang="en-US" sz="2100" dirty="0" err="1">
                <a:solidFill>
                  <a:srgbClr val="FFFFFF"/>
                </a:solidFill>
                <a:latin typeface="Montserrat Bold"/>
                <a:ea typeface="Montserrat Bold"/>
                <a:cs typeface="Montserrat Bold"/>
                <a:sym typeface="Montserrat Bold"/>
              </a:rPr>
              <a:t>Elaigwu</a:t>
            </a:r>
            <a:r>
              <a:rPr lang="en-US" sz="2100" dirty="0">
                <a:solidFill>
                  <a:srgbClr val="FFFFFF"/>
                </a:solidFill>
                <a:latin typeface="Montserrat Bold"/>
                <a:ea typeface="Montserrat Bold"/>
                <a:cs typeface="Montserrat Bold"/>
                <a:sym typeface="Montserrat Bold"/>
              </a:rPr>
              <a:t> Moses Patrick</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Emmanuela Chioma Okafor</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Ayoola Adedoyin Blessing</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Afolayan </a:t>
            </a:r>
            <a:r>
              <a:rPr lang="en-US" sz="2100" dirty="0" err="1">
                <a:solidFill>
                  <a:srgbClr val="FFFFFF"/>
                </a:solidFill>
                <a:latin typeface="Montserrat Bold"/>
                <a:ea typeface="Montserrat Bold"/>
                <a:cs typeface="Montserrat Bold"/>
                <a:sym typeface="Montserrat Bold"/>
              </a:rPr>
              <a:t>Akoniloluwa</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Victoria Adebiyi</a:t>
            </a:r>
          </a:p>
          <a:p>
            <a:pPr marL="457200" indent="-457200">
              <a:buFont typeface="Arial" panose="020B0604020202020204" pitchFamily="34" charset="0"/>
              <a:buChar char="•"/>
            </a:pPr>
            <a:r>
              <a:rPr lang="en-US" sz="2100" dirty="0" err="1">
                <a:solidFill>
                  <a:srgbClr val="FFFFFF"/>
                </a:solidFill>
                <a:latin typeface="Montserrat Bold"/>
                <a:ea typeface="Montserrat Bold"/>
                <a:cs typeface="Montserrat Bold"/>
                <a:sym typeface="Montserrat Bold"/>
              </a:rPr>
              <a:t>Odelade</a:t>
            </a:r>
            <a:r>
              <a:rPr lang="en-US" sz="2100" dirty="0">
                <a:solidFill>
                  <a:srgbClr val="FFFFFF"/>
                </a:solidFill>
                <a:latin typeface="Montserrat Bold"/>
                <a:ea typeface="Montserrat Bold"/>
                <a:cs typeface="Montserrat Bold"/>
                <a:sym typeface="Montserrat Bold"/>
              </a:rPr>
              <a:t> </a:t>
            </a:r>
            <a:r>
              <a:rPr lang="en-US" sz="2100" dirty="0" err="1">
                <a:solidFill>
                  <a:srgbClr val="FFFFFF"/>
                </a:solidFill>
                <a:latin typeface="Montserrat Bold"/>
                <a:ea typeface="Montserrat Bold"/>
                <a:cs typeface="Montserrat Bold"/>
                <a:sym typeface="Montserrat Bold"/>
              </a:rPr>
              <a:t>Pelumi</a:t>
            </a:r>
            <a:r>
              <a:rPr lang="en-US" sz="2100" dirty="0">
                <a:solidFill>
                  <a:srgbClr val="FFFFFF"/>
                </a:solidFill>
                <a:latin typeface="Montserrat Bold"/>
                <a:ea typeface="Montserrat Bold"/>
                <a:cs typeface="Montserrat Bold"/>
                <a:sym typeface="Montserrat Bold"/>
              </a:rPr>
              <a:t> John</a:t>
            </a:r>
          </a:p>
          <a:p>
            <a:pPr marL="457200" indent="-457200">
              <a:buFont typeface="Arial" panose="020B0604020202020204" pitchFamily="34" charset="0"/>
              <a:buChar char="•"/>
            </a:pPr>
            <a:endParaRPr lang="en-US" sz="2100" dirty="0">
              <a:solidFill>
                <a:srgbClr val="FFFFFF"/>
              </a:solidFill>
              <a:latin typeface="Montserrat Bold"/>
              <a:ea typeface="Montserrat Bold"/>
              <a:cs typeface="Montserrat Bold"/>
              <a:sym typeface="Montserrat Bold"/>
            </a:endParaRPr>
          </a:p>
        </p:txBody>
      </p:sp>
      <p:sp>
        <p:nvSpPr>
          <p:cNvPr id="13" name="TextBox 13"/>
          <p:cNvSpPr txBox="1"/>
          <p:nvPr/>
        </p:nvSpPr>
        <p:spPr>
          <a:xfrm>
            <a:off x="5823547" y="1137320"/>
            <a:ext cx="6640906" cy="1454658"/>
          </a:xfrm>
          <a:prstGeom prst="rect">
            <a:avLst/>
          </a:prstGeom>
        </p:spPr>
        <p:txBody>
          <a:bodyPr lIns="0" tIns="0" rIns="0" bIns="0" rtlCol="0" anchor="t">
            <a:spAutoFit/>
          </a:bodyPr>
          <a:lstStyle/>
          <a:p>
            <a:pPr algn="ctr">
              <a:lnSpc>
                <a:spcPts val="8135"/>
              </a:lnSpc>
            </a:pPr>
            <a:r>
              <a:rPr lang="en-US" sz="7200" b="1">
                <a:solidFill>
                  <a:srgbClr val="FFFFFF"/>
                </a:solidFill>
                <a:latin typeface="Prachason Neue Expanded Bold"/>
                <a:ea typeface="Prachason Neue Expanded Bold"/>
                <a:cs typeface="Prachason Neue Expanded Bold"/>
                <a:sym typeface="Prachason Neue Expanded Bold"/>
              </a:rPr>
              <a:t>TEAM</a:t>
            </a:r>
          </a:p>
        </p:txBody>
      </p:sp>
      <p:sp>
        <p:nvSpPr>
          <p:cNvPr id="14" name="Freeform 14"/>
          <p:cNvSpPr/>
          <p:nvPr/>
        </p:nvSpPr>
        <p:spPr>
          <a:xfrm>
            <a:off x="-4345342" y="272604"/>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5"/>
          <p:cNvSpPr/>
          <p:nvPr/>
        </p:nvSpPr>
        <p:spPr>
          <a:xfrm>
            <a:off x="-5726298" y="-4114800"/>
            <a:ext cx="9500260" cy="8229600"/>
          </a:xfrm>
          <a:custGeom>
            <a:avLst/>
            <a:gdLst/>
            <a:ahLst/>
            <a:cxnLst/>
            <a:rect l="l" t="t" r="r" b="b"/>
            <a:pathLst>
              <a:path w="9500260" h="8229600">
                <a:moveTo>
                  <a:pt x="0" y="0"/>
                </a:moveTo>
                <a:lnTo>
                  <a:pt x="9500259" y="0"/>
                </a:lnTo>
                <a:lnTo>
                  <a:pt x="9500259" y="8229600"/>
                </a:lnTo>
                <a:lnTo>
                  <a:pt x="0" y="8229600"/>
                </a:lnTo>
                <a:lnTo>
                  <a:pt x="0" y="0"/>
                </a:lnTo>
                <a:close/>
              </a:path>
            </a:pathLst>
          </a:custGeom>
          <a:blipFill>
            <a:blip r:embed="rId4"/>
            <a:stretch>
              <a:fillRect/>
            </a:stretch>
          </a:blipFill>
        </p:spPr>
        <p:txBody>
          <a:bodyPr/>
          <a:lstStyle/>
          <a:p>
            <a:endParaRPr lang="en-US"/>
          </a:p>
        </p:txBody>
      </p:sp>
      <p:sp>
        <p:nvSpPr>
          <p:cNvPr id="16" name="TextBox 16"/>
          <p:cNvSpPr txBox="1"/>
          <p:nvPr/>
        </p:nvSpPr>
        <p:spPr>
          <a:xfrm>
            <a:off x="12318370" y="990600"/>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sp>
        <p:nvSpPr>
          <p:cNvPr id="4" name="TextBox 4">
            <a:extLst>
              <a:ext uri="{FF2B5EF4-FFF2-40B4-BE49-F238E27FC236}">
                <a16:creationId xmlns:a16="http://schemas.microsoft.com/office/drawing/2014/main" id="{1AD6892B-41EF-B440-25CD-10F45F54A81C}"/>
              </a:ext>
            </a:extLst>
          </p:cNvPr>
          <p:cNvSpPr txBox="1"/>
          <p:nvPr/>
        </p:nvSpPr>
        <p:spPr>
          <a:xfrm>
            <a:off x="13716000" y="9639300"/>
            <a:ext cx="4963876" cy="281487"/>
          </a:xfrm>
          <a:prstGeom prst="rect">
            <a:avLst/>
          </a:prstGeom>
        </p:spPr>
        <p:txBody>
          <a:bodyPr lIns="0" tIns="0" rIns="0" bIns="0" rtlCol="0" anchor="t">
            <a:spAutoFit/>
          </a:bodyPr>
          <a:lstStyle/>
          <a:p>
            <a:pPr algn="l">
              <a:lnSpc>
                <a:spcPts val="2367"/>
              </a:lnSpc>
            </a:pPr>
            <a:r>
              <a:rPr lang="en-US" sz="1599" spc="46" dirty="0">
                <a:solidFill>
                  <a:srgbClr val="FFFFFF"/>
                </a:solidFill>
                <a:latin typeface="Montserrat"/>
                <a:ea typeface="Montserrat"/>
                <a:cs typeface="Montserrat"/>
                <a:sym typeface="Montserrat"/>
              </a:rPr>
              <a:t>© Aghe Marvellous || Data Analyst</a:t>
            </a:r>
          </a:p>
        </p:txBody>
      </p:sp>
      <p:sp>
        <p:nvSpPr>
          <p:cNvPr id="5" name="TextBox 7">
            <a:extLst>
              <a:ext uri="{FF2B5EF4-FFF2-40B4-BE49-F238E27FC236}">
                <a16:creationId xmlns:a16="http://schemas.microsoft.com/office/drawing/2014/main" id="{911466FD-6428-219D-709F-2D3DB39E12E6}"/>
              </a:ext>
            </a:extLst>
          </p:cNvPr>
          <p:cNvSpPr txBox="1"/>
          <p:nvPr/>
        </p:nvSpPr>
        <p:spPr>
          <a:xfrm>
            <a:off x="8839757" y="2042127"/>
            <a:ext cx="5418265" cy="6786473"/>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Adekola </a:t>
            </a:r>
            <a:r>
              <a:rPr lang="en-US" sz="2100" dirty="0" err="1">
                <a:solidFill>
                  <a:srgbClr val="FFFFFF"/>
                </a:solidFill>
                <a:latin typeface="Montserrat Bold"/>
                <a:ea typeface="Montserrat Bold"/>
                <a:cs typeface="Montserrat Bold"/>
                <a:sym typeface="Montserrat Bold"/>
              </a:rPr>
              <a:t>Adewoyin</a:t>
            </a:r>
            <a:r>
              <a:rPr lang="en-US" sz="2100" dirty="0">
                <a:solidFill>
                  <a:srgbClr val="FFFFFF"/>
                </a:solidFill>
                <a:latin typeface="Montserrat Bold"/>
                <a:ea typeface="Montserrat Bold"/>
                <a:cs typeface="Montserrat Bold"/>
                <a:sym typeface="Montserrat Bold"/>
              </a:rPr>
              <a:t> Solomon</a:t>
            </a:r>
          </a:p>
          <a:p>
            <a:pPr marL="457200" indent="-457200">
              <a:buFont typeface="Arial" panose="020B0604020202020204" pitchFamily="34" charset="0"/>
              <a:buChar char="•"/>
            </a:pPr>
            <a:r>
              <a:rPr lang="en-US" sz="2100" dirty="0" err="1">
                <a:solidFill>
                  <a:srgbClr val="FFFFFF"/>
                </a:solidFill>
                <a:latin typeface="Montserrat Bold"/>
                <a:ea typeface="Montserrat Bold"/>
                <a:cs typeface="Montserrat Bold"/>
                <a:sym typeface="Montserrat Bold"/>
              </a:rPr>
              <a:t>Omosanya</a:t>
            </a:r>
            <a:r>
              <a:rPr lang="en-US" sz="2100" dirty="0">
                <a:solidFill>
                  <a:srgbClr val="FFFFFF"/>
                </a:solidFill>
                <a:latin typeface="Montserrat Bold"/>
                <a:ea typeface="Montserrat Bold"/>
                <a:cs typeface="Montserrat Bold"/>
                <a:sym typeface="Montserrat Bold"/>
              </a:rPr>
              <a:t> Taofeek</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OGUGUA CHIBUIKE</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Okafor Judith Ogochukwu</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BLESSILIA AMEDOR</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Abraham Olumide</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Flora </a:t>
            </a:r>
            <a:r>
              <a:rPr lang="en-US" sz="2100" dirty="0" err="1">
                <a:solidFill>
                  <a:srgbClr val="FFFFFF"/>
                </a:solidFill>
                <a:latin typeface="Montserrat Bold"/>
                <a:ea typeface="Montserrat Bold"/>
                <a:cs typeface="Montserrat Bold"/>
                <a:sym typeface="Montserrat Bold"/>
              </a:rPr>
              <a:t>Kyerewaa</a:t>
            </a:r>
            <a:r>
              <a:rPr lang="en-US" sz="2100" dirty="0">
                <a:solidFill>
                  <a:srgbClr val="FFFFFF"/>
                </a:solidFill>
                <a:latin typeface="Montserrat Bold"/>
                <a:ea typeface="Montserrat Bold"/>
                <a:cs typeface="Montserrat Bold"/>
                <a:sym typeface="Montserrat Bold"/>
              </a:rPr>
              <a:t> </a:t>
            </a:r>
            <a:r>
              <a:rPr lang="en-US" sz="2100" dirty="0" err="1">
                <a:solidFill>
                  <a:srgbClr val="FFFFFF"/>
                </a:solidFill>
                <a:latin typeface="Montserrat Bold"/>
                <a:ea typeface="Montserrat Bold"/>
                <a:cs typeface="Montserrat Bold"/>
                <a:sym typeface="Montserrat Bold"/>
              </a:rPr>
              <a:t>Ainooson</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Jeffery Emmanuel Ugochukwu</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Lydia Owusu</a:t>
            </a:r>
          </a:p>
          <a:p>
            <a:pPr marL="457200" indent="-457200">
              <a:buFont typeface="Arial" panose="020B0604020202020204" pitchFamily="34" charset="0"/>
              <a:buChar char="•"/>
            </a:pPr>
            <a:r>
              <a:rPr lang="en-US" sz="2100" dirty="0" err="1">
                <a:solidFill>
                  <a:srgbClr val="FFFFFF"/>
                </a:solidFill>
                <a:latin typeface="Montserrat Bold"/>
                <a:ea typeface="Montserrat Bold"/>
                <a:cs typeface="Montserrat Bold"/>
                <a:sym typeface="Montserrat Bold"/>
              </a:rPr>
              <a:t>Omagu</a:t>
            </a:r>
            <a:r>
              <a:rPr lang="en-US" sz="2100" dirty="0">
                <a:solidFill>
                  <a:srgbClr val="FFFFFF"/>
                </a:solidFill>
                <a:latin typeface="Montserrat Bold"/>
                <a:ea typeface="Montserrat Bold"/>
                <a:cs typeface="Montserrat Bold"/>
                <a:sym typeface="Montserrat Bold"/>
              </a:rPr>
              <a:t> Michael</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Onyinyechi </a:t>
            </a:r>
            <a:r>
              <a:rPr lang="en-US" sz="2100" dirty="0" err="1">
                <a:solidFill>
                  <a:srgbClr val="FFFFFF"/>
                </a:solidFill>
                <a:latin typeface="Montserrat Bold"/>
                <a:ea typeface="Montserrat Bold"/>
                <a:cs typeface="Montserrat Bold"/>
                <a:sym typeface="Montserrat Bold"/>
              </a:rPr>
              <a:t>Okwueri</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⁠Ernest </a:t>
            </a:r>
            <a:r>
              <a:rPr lang="en-US" sz="2100" dirty="0" err="1">
                <a:solidFill>
                  <a:srgbClr val="FFFFFF"/>
                </a:solidFill>
                <a:latin typeface="Montserrat Bold"/>
                <a:ea typeface="Montserrat Bold"/>
                <a:cs typeface="Montserrat Bold"/>
                <a:sym typeface="Montserrat Bold"/>
              </a:rPr>
              <a:t>Agyemfra</a:t>
            </a:r>
            <a:r>
              <a:rPr lang="en-US" sz="2100" dirty="0">
                <a:solidFill>
                  <a:srgbClr val="FFFFFF"/>
                </a:solidFill>
                <a:latin typeface="Montserrat Bold"/>
                <a:ea typeface="Montserrat Bold"/>
                <a:cs typeface="Montserrat Bold"/>
                <a:sym typeface="Montserrat Bold"/>
              </a:rPr>
              <a:t>- Poku</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⁠Oluwasegun </a:t>
            </a:r>
            <a:r>
              <a:rPr lang="en-US" sz="2100" dirty="0" err="1">
                <a:solidFill>
                  <a:srgbClr val="FFFFFF"/>
                </a:solidFill>
                <a:latin typeface="Montserrat Bold"/>
                <a:ea typeface="Montserrat Bold"/>
                <a:cs typeface="Montserrat Bold"/>
                <a:sym typeface="Montserrat Bold"/>
              </a:rPr>
              <a:t>Toluwaleyi</a:t>
            </a:r>
            <a:r>
              <a:rPr lang="en-US" sz="2100" dirty="0">
                <a:solidFill>
                  <a:srgbClr val="FFFFFF"/>
                </a:solidFill>
                <a:latin typeface="Montserrat Bold"/>
                <a:ea typeface="Montserrat Bold"/>
                <a:cs typeface="Montserrat Bold"/>
                <a:sym typeface="Montserrat Bold"/>
              </a:rPr>
              <a:t> Hannah</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Abdusalam Zainab</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Umaru Firdausi</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Sanwo Toluwani</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Olaniyan Mubarak</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Emmanuel </a:t>
            </a:r>
            <a:r>
              <a:rPr lang="en-US" sz="2100" dirty="0" err="1">
                <a:solidFill>
                  <a:srgbClr val="FFFFFF"/>
                </a:solidFill>
                <a:latin typeface="Montserrat Bold"/>
                <a:ea typeface="Montserrat Bold"/>
                <a:cs typeface="Montserrat Bold"/>
                <a:sym typeface="Montserrat Bold"/>
              </a:rPr>
              <a:t>Akaluese</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Saidu Mohammed</a:t>
            </a: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Obey Qudus </a:t>
            </a:r>
            <a:r>
              <a:rPr lang="en-US" sz="2100" dirty="0" err="1">
                <a:solidFill>
                  <a:srgbClr val="FFFFFF"/>
                </a:solidFill>
                <a:latin typeface="Montserrat Bold"/>
                <a:ea typeface="Montserrat Bold"/>
                <a:cs typeface="Montserrat Bold"/>
                <a:sym typeface="Montserrat Bold"/>
              </a:rPr>
              <a:t>Oluwanishola</a:t>
            </a:r>
            <a:endParaRPr lang="en-US" sz="2100" dirty="0">
              <a:solidFill>
                <a:srgbClr val="FFFFFF"/>
              </a:solidFill>
              <a:latin typeface="Montserrat Bold"/>
              <a:ea typeface="Montserrat Bold"/>
              <a:cs typeface="Montserrat Bold"/>
              <a:sym typeface="Montserrat Bold"/>
            </a:endParaRPr>
          </a:p>
          <a:p>
            <a:pPr marL="457200" indent="-457200">
              <a:buFont typeface="Arial" panose="020B0604020202020204" pitchFamily="34" charset="0"/>
              <a:buChar char="•"/>
            </a:pPr>
            <a:r>
              <a:rPr lang="en-US" sz="2100" dirty="0">
                <a:solidFill>
                  <a:srgbClr val="FFFFFF"/>
                </a:solidFill>
                <a:latin typeface="Montserrat Bold"/>
                <a:ea typeface="Montserrat Bold"/>
                <a:cs typeface="Montserrat Bold"/>
                <a:sym typeface="Montserrat Bold"/>
              </a:rPr>
              <a:t>Balogun Moyosola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162800" y="3129031"/>
            <a:ext cx="10591800" cy="4431983"/>
          </a:xfrm>
          <a:prstGeom prst="rect">
            <a:avLst/>
          </a:prstGeom>
        </p:spPr>
        <p:txBody>
          <a:bodyPr wrap="square" lIns="0" tIns="0" rIns="0" bIns="0" rtlCol="0" anchor="t">
            <a:spAutoFit/>
          </a:bodyPr>
          <a:lstStyle/>
          <a:p>
            <a:pPr algn="just"/>
            <a:r>
              <a:rPr lang="en-US" sz="2400" dirty="0">
                <a:solidFill>
                  <a:schemeClr val="bg1"/>
                </a:solidFill>
              </a:rPr>
              <a:t>Adidas operates across multiple regions and retail partners, offering a wide range of products through various sales channels such as in-store, online, and outlet stores. While large volumes of sales data are collected, these data are not always fully utilized to drive strategic business decisions.</a:t>
            </a:r>
          </a:p>
          <a:p>
            <a:pPr algn="just"/>
            <a:endParaRPr lang="en-US" sz="2400" dirty="0">
              <a:solidFill>
                <a:schemeClr val="bg1"/>
              </a:solidFill>
            </a:endParaRPr>
          </a:p>
          <a:p>
            <a:pPr algn="just"/>
            <a:r>
              <a:rPr lang="en-US" sz="2400" dirty="0">
                <a:solidFill>
                  <a:schemeClr val="bg1"/>
                </a:solidFill>
              </a:rPr>
              <a:t>This project analyzes Adidas’ sales performance using historical sales data to uncover insights into revenue, profitability, product performance, regional trends, and sales channels. By leveraging data analysis and visualization techniques in Excel, the study aims to identify top-performing and underperforming products, regions, retailers, and sales methods. The insights generated from this analysis support data-driven decision-making in areas such as marketing strategy, inventory allocation, and overall business optimization.</a:t>
            </a:r>
          </a:p>
        </p:txBody>
      </p:sp>
      <p:sp>
        <p:nvSpPr>
          <p:cNvPr id="3" name="TextBox 3"/>
          <p:cNvSpPr txBox="1"/>
          <p:nvPr/>
        </p:nvSpPr>
        <p:spPr>
          <a:xfrm>
            <a:off x="6169892" y="1566450"/>
            <a:ext cx="9242893" cy="1056058"/>
          </a:xfrm>
          <a:prstGeom prst="rect">
            <a:avLst/>
          </a:prstGeom>
        </p:spPr>
        <p:txBody>
          <a:bodyPr lIns="0" tIns="0" rIns="0" bIns="0" rtlCol="0" anchor="t">
            <a:spAutoFit/>
          </a:bodyPr>
          <a:lstStyle/>
          <a:p>
            <a:pPr algn="l">
              <a:lnSpc>
                <a:spcPts val="8135"/>
              </a:lnSpc>
            </a:pPr>
            <a:r>
              <a:rPr lang="en-US" sz="7200" b="1" dirty="0">
                <a:solidFill>
                  <a:srgbClr val="FFFFFF"/>
                </a:solidFill>
                <a:latin typeface="Prachason Neue Expanded Bold"/>
                <a:ea typeface="Prachason Neue Expanded Bold"/>
                <a:cs typeface="Prachason Neue Expanded Bold"/>
                <a:sym typeface="Prachason Neue Expanded Bold"/>
              </a:rPr>
              <a:t>Introduction</a:t>
            </a:r>
          </a:p>
        </p:txBody>
      </p:sp>
      <p:sp>
        <p:nvSpPr>
          <p:cNvPr id="4" name="TextBox 4"/>
          <p:cNvSpPr txBox="1"/>
          <p:nvPr/>
        </p:nvSpPr>
        <p:spPr>
          <a:xfrm>
            <a:off x="14325600" y="9563100"/>
            <a:ext cx="4963876" cy="281487"/>
          </a:xfrm>
          <a:prstGeom prst="rect">
            <a:avLst/>
          </a:prstGeom>
        </p:spPr>
        <p:txBody>
          <a:bodyPr lIns="0" tIns="0" rIns="0" bIns="0" rtlCol="0" anchor="t">
            <a:spAutoFit/>
          </a:bodyPr>
          <a:lstStyle/>
          <a:p>
            <a:pPr algn="l">
              <a:lnSpc>
                <a:spcPts val="2367"/>
              </a:lnSpc>
            </a:pPr>
            <a:r>
              <a:rPr lang="en-US" sz="1599" spc="46" dirty="0">
                <a:solidFill>
                  <a:srgbClr val="FFFFFF"/>
                </a:solidFill>
                <a:latin typeface="Montserrat"/>
                <a:ea typeface="Montserrat"/>
                <a:cs typeface="Montserrat"/>
                <a:sym typeface="Montserrat"/>
              </a:rPr>
              <a:t>© Aghe Marvellous || Data Analyst</a:t>
            </a:r>
          </a:p>
        </p:txBody>
      </p:sp>
      <p:sp>
        <p:nvSpPr>
          <p:cNvPr id="5" name="Freeform 5"/>
          <p:cNvSpPr/>
          <p:nvPr/>
        </p:nvSpPr>
        <p:spPr>
          <a:xfrm>
            <a:off x="-347881" y="5002650"/>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1767601" flipH="1">
            <a:off x="-3712860" y="1687751"/>
            <a:ext cx="10761692" cy="8560582"/>
          </a:xfrm>
          <a:custGeom>
            <a:avLst/>
            <a:gdLst/>
            <a:ahLst/>
            <a:cxnLst/>
            <a:rect l="l" t="t" r="r" b="b"/>
            <a:pathLst>
              <a:path w="12131969" h="9205131">
                <a:moveTo>
                  <a:pt x="12131969" y="0"/>
                </a:moveTo>
                <a:lnTo>
                  <a:pt x="0" y="0"/>
                </a:lnTo>
                <a:lnTo>
                  <a:pt x="0" y="9205132"/>
                </a:lnTo>
                <a:lnTo>
                  <a:pt x="12131969" y="9205132"/>
                </a:lnTo>
                <a:lnTo>
                  <a:pt x="12131969" y="0"/>
                </a:lnTo>
                <a:close/>
              </a:path>
            </a:pathLst>
          </a:custGeom>
          <a:blipFill>
            <a:blip r:embed="rId4"/>
            <a:stretch>
              <a:fillRect/>
            </a:stretch>
          </a:blipFill>
        </p:spPr>
        <p:txBody>
          <a:bodyPr/>
          <a:lstStyle/>
          <a:p>
            <a:endParaRPr lang="en-US"/>
          </a:p>
        </p:txBody>
      </p:sp>
      <p:sp>
        <p:nvSpPr>
          <p:cNvPr id="7" name="TextBox 7"/>
          <p:cNvSpPr txBox="1"/>
          <p:nvPr/>
        </p:nvSpPr>
        <p:spPr>
          <a:xfrm>
            <a:off x="12318370" y="990600"/>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sp>
        <p:nvSpPr>
          <p:cNvPr id="8" name="Freeform 8"/>
          <p:cNvSpPr/>
          <p:nvPr/>
        </p:nvSpPr>
        <p:spPr>
          <a:xfrm>
            <a:off x="15724818" y="990600"/>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9" name="Picture 8">
            <a:extLst>
              <a:ext uri="{FF2B5EF4-FFF2-40B4-BE49-F238E27FC236}">
                <a16:creationId xmlns:a16="http://schemas.microsoft.com/office/drawing/2014/main" id="{BE656CEC-B210-9E5F-DC32-AB0C66BCFB17}"/>
              </a:ext>
            </a:extLst>
          </p:cNvPr>
          <p:cNvPicPr>
            <a:picLocks noChangeAspect="1"/>
          </p:cNvPicPr>
          <p:nvPr/>
        </p:nvPicPr>
        <p:blipFill>
          <a:blip r:embed="rId5"/>
          <a:stretch>
            <a:fillRect/>
          </a:stretch>
        </p:blipFill>
        <p:spPr>
          <a:xfrm>
            <a:off x="-2308" y="-173813"/>
            <a:ext cx="3157135" cy="1770743"/>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2384962" y="-4480190"/>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8333969" y="-7640868"/>
            <a:ext cx="12693341" cy="13630434"/>
          </a:xfrm>
          <a:custGeom>
            <a:avLst/>
            <a:gdLst/>
            <a:ahLst/>
            <a:cxnLst/>
            <a:rect l="l" t="t" r="r" b="b"/>
            <a:pathLst>
              <a:path w="12693341" h="13630434">
                <a:moveTo>
                  <a:pt x="0" y="0"/>
                </a:moveTo>
                <a:lnTo>
                  <a:pt x="12693341" y="0"/>
                </a:lnTo>
                <a:lnTo>
                  <a:pt x="12693341" y="13630433"/>
                </a:lnTo>
                <a:lnTo>
                  <a:pt x="0" y="13630433"/>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6477000" y="6591300"/>
            <a:ext cx="11372326" cy="1056058"/>
          </a:xfrm>
          <a:prstGeom prst="rect">
            <a:avLst/>
          </a:prstGeom>
        </p:spPr>
        <p:txBody>
          <a:bodyPr wrap="square" lIns="0" tIns="0" rIns="0" bIns="0" rtlCol="0" anchor="t">
            <a:spAutoFit/>
          </a:bodyPr>
          <a:lstStyle/>
          <a:p>
            <a:pPr algn="r">
              <a:lnSpc>
                <a:spcPts val="8135"/>
              </a:lnSpc>
            </a:pPr>
            <a:r>
              <a:rPr lang="en-US" sz="6600" b="1" dirty="0">
                <a:solidFill>
                  <a:srgbClr val="FFFFFF"/>
                </a:solidFill>
                <a:latin typeface="Prachason Neue Expanded Bold"/>
                <a:ea typeface="Prachason Neue Expanded Bold"/>
                <a:cs typeface="Prachason Neue Expanded Bold"/>
                <a:sym typeface="Prachason Neue Expanded Bold"/>
              </a:rPr>
              <a:t>Problem Statement</a:t>
            </a:r>
          </a:p>
        </p:txBody>
      </p:sp>
      <p:sp>
        <p:nvSpPr>
          <p:cNvPr id="5" name="TextBox 5"/>
          <p:cNvSpPr txBox="1"/>
          <p:nvPr/>
        </p:nvSpPr>
        <p:spPr>
          <a:xfrm>
            <a:off x="413600" y="3474757"/>
            <a:ext cx="10483000" cy="2583143"/>
          </a:xfrm>
          <a:prstGeom prst="rect">
            <a:avLst/>
          </a:prstGeom>
        </p:spPr>
        <p:txBody>
          <a:bodyPr wrap="square" lIns="0" tIns="0" rIns="0" bIns="0" rtlCol="0" anchor="t">
            <a:spAutoFit/>
          </a:bodyPr>
          <a:lstStyle/>
          <a:p>
            <a:pPr algn="just">
              <a:lnSpc>
                <a:spcPts val="3359"/>
              </a:lnSpc>
            </a:pPr>
            <a:r>
              <a:rPr lang="en-US" sz="2400" dirty="0">
                <a:solidFill>
                  <a:srgbClr val="FFFFFF"/>
                </a:solidFill>
                <a:latin typeface="Montserrat"/>
                <a:ea typeface="Montserrat"/>
                <a:cs typeface="Montserrat"/>
                <a:sym typeface="Montserrat"/>
              </a:rPr>
              <a:t>Adidas lacks clear visibility into which product categories, retailers, regions, and sales channels generate the most revenue and profit. In addition, variations in customer behavior across locations and sales methods make it difficult to identify underperforming markets and effectively optimize marketing strategies, pricing, and inventory decisions using existing sales data.</a:t>
            </a:r>
          </a:p>
        </p:txBody>
      </p:sp>
      <p:sp>
        <p:nvSpPr>
          <p:cNvPr id="6" name="TextBox 6"/>
          <p:cNvSpPr txBox="1"/>
          <p:nvPr/>
        </p:nvSpPr>
        <p:spPr>
          <a:xfrm>
            <a:off x="14478000" y="9551869"/>
            <a:ext cx="4963876" cy="281487"/>
          </a:xfrm>
          <a:prstGeom prst="rect">
            <a:avLst/>
          </a:prstGeom>
        </p:spPr>
        <p:txBody>
          <a:bodyPr lIns="0" tIns="0" rIns="0" bIns="0" rtlCol="0" anchor="t">
            <a:spAutoFit/>
          </a:bodyPr>
          <a:lstStyle/>
          <a:p>
            <a:pPr algn="l">
              <a:lnSpc>
                <a:spcPts val="2367"/>
              </a:lnSpc>
            </a:pPr>
            <a:r>
              <a:rPr lang="en-US" sz="1599" spc="46" dirty="0">
                <a:solidFill>
                  <a:srgbClr val="FFFFFF"/>
                </a:solidFill>
                <a:latin typeface="Montserrat"/>
                <a:ea typeface="Montserrat"/>
                <a:cs typeface="Montserrat"/>
                <a:sym typeface="Montserrat"/>
              </a:rPr>
              <a:t>©Aghe Marvellous | Data Analyst</a:t>
            </a:r>
          </a:p>
        </p:txBody>
      </p:sp>
      <p:sp>
        <p:nvSpPr>
          <p:cNvPr id="7" name="Freeform 7"/>
          <p:cNvSpPr/>
          <p:nvPr/>
        </p:nvSpPr>
        <p:spPr>
          <a:xfrm>
            <a:off x="-668888" y="7304763"/>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8" name="Freeform 8"/>
          <p:cNvSpPr/>
          <p:nvPr/>
        </p:nvSpPr>
        <p:spPr>
          <a:xfrm>
            <a:off x="1606541" y="6858421"/>
            <a:ext cx="8381159" cy="8999903"/>
          </a:xfrm>
          <a:custGeom>
            <a:avLst/>
            <a:gdLst/>
            <a:ahLst/>
            <a:cxnLst/>
            <a:rect l="l" t="t" r="r" b="b"/>
            <a:pathLst>
              <a:path w="8381159" h="8999903">
                <a:moveTo>
                  <a:pt x="0" y="0"/>
                </a:moveTo>
                <a:lnTo>
                  <a:pt x="8381159" y="0"/>
                </a:lnTo>
                <a:lnTo>
                  <a:pt x="8381159" y="8999903"/>
                </a:lnTo>
                <a:lnTo>
                  <a:pt x="0" y="8999903"/>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1028700" y="990600"/>
            <a:ext cx="4940930" cy="281487"/>
          </a:xfrm>
          <a:prstGeom prst="rect">
            <a:avLst/>
          </a:prstGeom>
        </p:spPr>
        <p:txBody>
          <a:bodyPr lIns="0" tIns="0" rIns="0" bIns="0" rtlCol="0" anchor="t">
            <a:spAutoFit/>
          </a:bodyPr>
          <a:lstStyle/>
          <a:p>
            <a:pPr algn="l">
              <a:lnSpc>
                <a:spcPts val="2367"/>
              </a:lnSpc>
            </a:pPr>
            <a:r>
              <a:rPr lang="en-US" sz="1599" spc="371" dirty="0">
                <a:solidFill>
                  <a:srgbClr val="FFFFFF"/>
                </a:solidFill>
                <a:latin typeface="Montserrat"/>
                <a:ea typeface="Montserrat"/>
                <a:cs typeface="Montserrat"/>
                <a:sym typeface="Montserrat"/>
              </a:rPr>
              <a:t>Group 10</a:t>
            </a:r>
          </a:p>
        </p:txBody>
      </p:sp>
      <p:pic>
        <p:nvPicPr>
          <p:cNvPr id="10" name="Picture 9">
            <a:extLst>
              <a:ext uri="{FF2B5EF4-FFF2-40B4-BE49-F238E27FC236}">
                <a16:creationId xmlns:a16="http://schemas.microsoft.com/office/drawing/2014/main" id="{0B4208FB-4175-46EA-AEEB-EDDC06D97595}"/>
              </a:ext>
            </a:extLst>
          </p:cNvPr>
          <p:cNvPicPr>
            <a:picLocks noChangeAspect="1"/>
          </p:cNvPicPr>
          <p:nvPr/>
        </p:nvPicPr>
        <p:blipFill>
          <a:blip r:embed="rId5"/>
          <a:stretch>
            <a:fillRect/>
          </a:stretch>
        </p:blipFill>
        <p:spPr>
          <a:xfrm>
            <a:off x="13563600" y="266700"/>
            <a:ext cx="3157135" cy="1770743"/>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5740058" y="1028700"/>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2401554" flipH="1">
            <a:off x="14720272" y="-2339153"/>
            <a:ext cx="8376183" cy="8229600"/>
          </a:xfrm>
          <a:custGeom>
            <a:avLst/>
            <a:gdLst/>
            <a:ahLst/>
            <a:cxnLst/>
            <a:rect l="l" t="t" r="r" b="b"/>
            <a:pathLst>
              <a:path w="8376183" h="8229600">
                <a:moveTo>
                  <a:pt x="8376184" y="0"/>
                </a:moveTo>
                <a:lnTo>
                  <a:pt x="0" y="0"/>
                </a:lnTo>
                <a:lnTo>
                  <a:pt x="0" y="8229600"/>
                </a:lnTo>
                <a:lnTo>
                  <a:pt x="8376184" y="8229600"/>
                </a:lnTo>
                <a:lnTo>
                  <a:pt x="8376184" y="0"/>
                </a:lnTo>
                <a:close/>
              </a:path>
            </a:pathLst>
          </a:custGeom>
          <a:blipFill>
            <a:blip r:embed="rId4"/>
            <a:stretch>
              <a:fillRect/>
            </a:stretch>
          </a:blipFill>
        </p:spPr>
        <p:txBody>
          <a:bodyPr/>
          <a:lstStyle/>
          <a:p>
            <a:endParaRPr lang="en-US"/>
          </a:p>
        </p:txBody>
      </p:sp>
      <p:sp>
        <p:nvSpPr>
          <p:cNvPr id="4" name="Freeform 4"/>
          <p:cNvSpPr/>
          <p:nvPr/>
        </p:nvSpPr>
        <p:spPr>
          <a:xfrm>
            <a:off x="-647015" y="5307574"/>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4262330">
            <a:off x="-710525" y="3978473"/>
            <a:ext cx="7694676" cy="8229600"/>
          </a:xfrm>
          <a:custGeom>
            <a:avLst/>
            <a:gdLst/>
            <a:ahLst/>
            <a:cxnLst/>
            <a:rect l="l" t="t" r="r" b="b"/>
            <a:pathLst>
              <a:path w="7694676" h="8229600">
                <a:moveTo>
                  <a:pt x="0" y="0"/>
                </a:moveTo>
                <a:lnTo>
                  <a:pt x="7694676" y="0"/>
                </a:lnTo>
                <a:lnTo>
                  <a:pt x="7694676" y="8229600"/>
                </a:lnTo>
                <a:lnTo>
                  <a:pt x="0" y="822960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5823547" y="2755735"/>
            <a:ext cx="6640906" cy="1056058"/>
          </a:xfrm>
          <a:prstGeom prst="rect">
            <a:avLst/>
          </a:prstGeom>
        </p:spPr>
        <p:txBody>
          <a:bodyPr lIns="0" tIns="0" rIns="0" bIns="0" rtlCol="0" anchor="t">
            <a:spAutoFit/>
          </a:bodyPr>
          <a:lstStyle/>
          <a:p>
            <a:pPr algn="ctr">
              <a:lnSpc>
                <a:spcPts val="8135"/>
              </a:lnSpc>
            </a:pPr>
            <a:r>
              <a:rPr lang="en-US" sz="7200" b="1" dirty="0">
                <a:solidFill>
                  <a:srgbClr val="FFFFFF"/>
                </a:solidFill>
                <a:latin typeface="Prachason Neue Expanded Bold"/>
                <a:ea typeface="Prachason Neue Expanded Bold"/>
                <a:cs typeface="Prachason Neue Expanded Bold"/>
                <a:sym typeface="Prachason Neue Expanded Bold"/>
              </a:rPr>
              <a:t>Objective</a:t>
            </a:r>
          </a:p>
        </p:txBody>
      </p:sp>
      <p:sp>
        <p:nvSpPr>
          <p:cNvPr id="7" name="TextBox 7"/>
          <p:cNvSpPr txBox="1"/>
          <p:nvPr/>
        </p:nvSpPr>
        <p:spPr>
          <a:xfrm>
            <a:off x="4218971" y="4741798"/>
            <a:ext cx="11706829" cy="2583143"/>
          </a:xfrm>
          <a:prstGeom prst="rect">
            <a:avLst/>
          </a:prstGeom>
        </p:spPr>
        <p:txBody>
          <a:bodyPr wrap="square" lIns="0" tIns="0" rIns="0" bIns="0" rtlCol="0" anchor="t">
            <a:spAutoFit/>
          </a:bodyPr>
          <a:lstStyle/>
          <a:p>
            <a:pPr algn="just">
              <a:lnSpc>
                <a:spcPts val="3359"/>
              </a:lnSpc>
            </a:pPr>
            <a:r>
              <a:rPr lang="en-US" sz="2400" dirty="0">
                <a:solidFill>
                  <a:srgbClr val="FFFFFF"/>
                </a:solidFill>
                <a:latin typeface="Montserrat"/>
                <a:ea typeface="Montserrat"/>
                <a:cs typeface="Montserrat"/>
                <a:sym typeface="Montserrat"/>
              </a:rPr>
              <a:t>The objective of this analysis is to evaluate Adidas’ overall sales and profitability performance, identify top and underperforming product categories, regions, and sales channels, compare the sales contributions of key retail partners, assess the effectiveness of different sales methods, and generate actionable insights to support improved future sales strategies and promotional decisions.</a:t>
            </a:r>
          </a:p>
        </p:txBody>
      </p:sp>
      <p:sp>
        <p:nvSpPr>
          <p:cNvPr id="8" name="TextBox 8"/>
          <p:cNvSpPr txBox="1"/>
          <p:nvPr/>
        </p:nvSpPr>
        <p:spPr>
          <a:xfrm>
            <a:off x="-209817" y="379045"/>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 </a:t>
            </a:r>
          </a:p>
        </p:txBody>
      </p:sp>
      <p:sp>
        <p:nvSpPr>
          <p:cNvPr id="9" name="TextBox 9"/>
          <p:cNvSpPr txBox="1"/>
          <p:nvPr/>
        </p:nvSpPr>
        <p:spPr>
          <a:xfrm>
            <a:off x="12318370" y="8981821"/>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pic>
        <p:nvPicPr>
          <p:cNvPr id="10" name="Picture 9">
            <a:extLst>
              <a:ext uri="{FF2B5EF4-FFF2-40B4-BE49-F238E27FC236}">
                <a16:creationId xmlns:a16="http://schemas.microsoft.com/office/drawing/2014/main" id="{372ED73F-1F25-B704-FAB4-A47B6FF0E4D4}"/>
              </a:ext>
            </a:extLst>
          </p:cNvPr>
          <p:cNvPicPr>
            <a:picLocks noChangeAspect="1"/>
          </p:cNvPicPr>
          <p:nvPr/>
        </p:nvPicPr>
        <p:blipFill>
          <a:blip r:embed="rId6"/>
          <a:stretch>
            <a:fillRect/>
          </a:stretch>
        </p:blipFill>
        <p:spPr>
          <a:xfrm>
            <a:off x="14325600" y="-178693"/>
            <a:ext cx="3157135" cy="1770743"/>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647015" y="-3991653"/>
            <a:ext cx="7309077" cy="7309077"/>
          </a:xfrm>
          <a:custGeom>
            <a:avLst/>
            <a:gdLst/>
            <a:ahLst/>
            <a:cxnLst/>
            <a:rect l="l" t="t" r="r" b="b"/>
            <a:pathLst>
              <a:path w="7309077" h="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4190579" y="-671649"/>
            <a:ext cx="6400380" cy="5815149"/>
          </a:xfrm>
          <a:custGeom>
            <a:avLst/>
            <a:gdLst/>
            <a:ahLst/>
            <a:cxnLst/>
            <a:rect l="l" t="t" r="r" b="b"/>
            <a:pathLst>
              <a:path w="8381159" h="8999903">
                <a:moveTo>
                  <a:pt x="0" y="0"/>
                </a:moveTo>
                <a:lnTo>
                  <a:pt x="8381160" y="0"/>
                </a:lnTo>
                <a:lnTo>
                  <a:pt x="8381160" y="8999903"/>
                </a:lnTo>
                <a:lnTo>
                  <a:pt x="0" y="8999903"/>
                </a:lnTo>
                <a:lnTo>
                  <a:pt x="0" y="0"/>
                </a:lnTo>
                <a:close/>
              </a:path>
            </a:pathLst>
          </a:custGeom>
          <a:blipFill>
            <a:blip r:embed="rId4"/>
            <a:stretch>
              <a:fillRect/>
            </a:stretch>
          </a:blipFill>
        </p:spPr>
        <p:txBody>
          <a:bodyPr/>
          <a:lstStyle/>
          <a:p>
            <a:endParaRPr lang="en-US"/>
          </a:p>
        </p:txBody>
      </p:sp>
      <p:sp>
        <p:nvSpPr>
          <p:cNvPr id="4" name="Freeform 4"/>
          <p:cNvSpPr/>
          <p:nvPr/>
        </p:nvSpPr>
        <p:spPr>
          <a:xfrm>
            <a:off x="13533941" y="5603762"/>
            <a:ext cx="7309077" cy="7309077"/>
          </a:xfrm>
          <a:custGeom>
            <a:avLst/>
            <a:gdLst/>
            <a:ahLst/>
            <a:cxnLst/>
            <a:rect l="l" t="t" r="r" b="b"/>
            <a:pathLst>
              <a:path w="7309077" h="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163800" y="5603762"/>
            <a:ext cx="8281060" cy="5403874"/>
          </a:xfrm>
          <a:custGeom>
            <a:avLst/>
            <a:gdLst/>
            <a:ahLst/>
            <a:cxnLst/>
            <a:rect l="l" t="t" r="r" b="b"/>
            <a:pathLst>
              <a:path w="9500260" h="8229600">
                <a:moveTo>
                  <a:pt x="0" y="0"/>
                </a:moveTo>
                <a:lnTo>
                  <a:pt x="9500260" y="0"/>
                </a:lnTo>
                <a:lnTo>
                  <a:pt x="9500260" y="8229600"/>
                </a:lnTo>
                <a:lnTo>
                  <a:pt x="0" y="822960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4152216" y="415290"/>
            <a:ext cx="10635653" cy="963725"/>
          </a:xfrm>
          <a:prstGeom prst="rect">
            <a:avLst/>
          </a:prstGeom>
        </p:spPr>
        <p:txBody>
          <a:bodyPr wrap="square" lIns="0" tIns="0" rIns="0" bIns="0" rtlCol="0" anchor="t">
            <a:spAutoFit/>
          </a:bodyPr>
          <a:lstStyle/>
          <a:p>
            <a:pPr algn="ctr">
              <a:lnSpc>
                <a:spcPts val="8135"/>
              </a:lnSpc>
            </a:pPr>
            <a:r>
              <a:rPr lang="en-US" sz="4400" b="1" dirty="0">
                <a:solidFill>
                  <a:srgbClr val="FFFFFF"/>
                </a:solidFill>
                <a:latin typeface="Prachason Neue Expanded Bold"/>
                <a:ea typeface="Prachason Neue Expanded Bold"/>
                <a:cs typeface="Prachason Neue Expanded Bold"/>
                <a:sym typeface="Prachason Neue Expanded Bold"/>
              </a:rPr>
              <a:t>Dataset Overview</a:t>
            </a:r>
          </a:p>
        </p:txBody>
      </p:sp>
      <p:sp>
        <p:nvSpPr>
          <p:cNvPr id="7" name="TextBox 7"/>
          <p:cNvSpPr txBox="1"/>
          <p:nvPr/>
        </p:nvSpPr>
        <p:spPr>
          <a:xfrm>
            <a:off x="2514600" y="1409700"/>
            <a:ext cx="14249400" cy="1698414"/>
          </a:xfrm>
          <a:prstGeom prst="rect">
            <a:avLst/>
          </a:prstGeom>
        </p:spPr>
        <p:txBody>
          <a:bodyPr wrap="square" lIns="0" tIns="0" rIns="0" bIns="0" rtlCol="0" anchor="t">
            <a:spAutoFit/>
          </a:bodyPr>
          <a:lstStyle/>
          <a:p>
            <a:pPr>
              <a:lnSpc>
                <a:spcPts val="3359"/>
              </a:lnSpc>
            </a:pPr>
            <a:r>
              <a:rPr lang="en-US" sz="2000" dirty="0">
                <a:solidFill>
                  <a:srgbClr val="FFFFFF"/>
                </a:solidFill>
                <a:latin typeface="Montserrat"/>
                <a:ea typeface="Montserrat"/>
                <a:cs typeface="Montserrat"/>
                <a:sym typeface="Montserrat"/>
              </a:rPr>
              <a:t>The dataset contains Adidas sales transaction records across multiple retailers, regions, product categories, and sales channels over a defined time period. Key fields include order dates, retailer names, product details, sales method, total sales, operating margin, and operating profit. The dataset is designed to support performance analysis across products, regions, and channels, enabling data-driven business insights.</a:t>
            </a:r>
          </a:p>
        </p:txBody>
      </p:sp>
      <p:sp>
        <p:nvSpPr>
          <p:cNvPr id="8" name="TextBox 8"/>
          <p:cNvSpPr txBox="1"/>
          <p:nvPr/>
        </p:nvSpPr>
        <p:spPr>
          <a:xfrm>
            <a:off x="11887200" y="9738813"/>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
        <p:nvSpPr>
          <p:cNvPr id="9" name="TextBox 9"/>
          <p:cNvSpPr txBox="1"/>
          <p:nvPr/>
        </p:nvSpPr>
        <p:spPr>
          <a:xfrm>
            <a:off x="1187136" y="802575"/>
            <a:ext cx="2045330" cy="281487"/>
          </a:xfrm>
          <a:prstGeom prst="rect">
            <a:avLst/>
          </a:prstGeom>
        </p:spPr>
        <p:txBody>
          <a:bodyPr wrap="square"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pic>
        <p:nvPicPr>
          <p:cNvPr id="10" name="Picture 9">
            <a:extLst>
              <a:ext uri="{FF2B5EF4-FFF2-40B4-BE49-F238E27FC236}">
                <a16:creationId xmlns:a16="http://schemas.microsoft.com/office/drawing/2014/main" id="{F28B4DAC-90DD-6D6A-EEC2-73F7ACE9266B}"/>
              </a:ext>
            </a:extLst>
          </p:cNvPr>
          <p:cNvPicPr>
            <a:picLocks noChangeAspect="1"/>
          </p:cNvPicPr>
          <p:nvPr/>
        </p:nvPicPr>
        <p:blipFill>
          <a:blip r:embed="rId6"/>
          <a:stretch>
            <a:fillRect/>
          </a:stretch>
        </p:blipFill>
        <p:spPr>
          <a:xfrm>
            <a:off x="15379935" y="-229957"/>
            <a:ext cx="3157135" cy="1770743"/>
          </a:xfrm>
          <a:prstGeom prst="rect">
            <a:avLst/>
          </a:prstGeom>
          <a:ln>
            <a:noFill/>
          </a:ln>
        </p:spPr>
      </p:pic>
      <p:sp>
        <p:nvSpPr>
          <p:cNvPr id="12" name="TextBox 6">
            <a:extLst>
              <a:ext uri="{FF2B5EF4-FFF2-40B4-BE49-F238E27FC236}">
                <a16:creationId xmlns:a16="http://schemas.microsoft.com/office/drawing/2014/main" id="{88799458-D289-249D-B6AD-C18537EA898F}"/>
              </a:ext>
            </a:extLst>
          </p:cNvPr>
          <p:cNvSpPr txBox="1"/>
          <p:nvPr/>
        </p:nvSpPr>
        <p:spPr>
          <a:xfrm>
            <a:off x="3847417" y="2933700"/>
            <a:ext cx="10635653" cy="948337"/>
          </a:xfrm>
          <a:prstGeom prst="rect">
            <a:avLst/>
          </a:prstGeom>
        </p:spPr>
        <p:txBody>
          <a:bodyPr wrap="square" lIns="0" tIns="0" rIns="0" bIns="0" rtlCol="0" anchor="t">
            <a:spAutoFit/>
          </a:bodyPr>
          <a:lstStyle/>
          <a:p>
            <a:pPr algn="ctr">
              <a:lnSpc>
                <a:spcPts val="8135"/>
              </a:lnSpc>
            </a:pPr>
            <a:r>
              <a:rPr lang="en-US" sz="4400" b="1" dirty="0">
                <a:solidFill>
                  <a:srgbClr val="FFFFFF"/>
                </a:solidFill>
                <a:latin typeface="Prachason Neue Expanded Bold"/>
                <a:ea typeface="Prachason Neue Expanded Bold"/>
                <a:cs typeface="Prachason Neue Expanded Bold"/>
                <a:sym typeface="Prachason Neue Expanded Bold"/>
              </a:rPr>
              <a:t>Dataset Cleaning Steps</a:t>
            </a:r>
          </a:p>
        </p:txBody>
      </p:sp>
      <p:sp>
        <p:nvSpPr>
          <p:cNvPr id="13" name="TextBox 7">
            <a:extLst>
              <a:ext uri="{FF2B5EF4-FFF2-40B4-BE49-F238E27FC236}">
                <a16:creationId xmlns:a16="http://schemas.microsoft.com/office/drawing/2014/main" id="{A6D856B0-50B1-744F-26DC-739D1F88304D}"/>
              </a:ext>
            </a:extLst>
          </p:cNvPr>
          <p:cNvSpPr txBox="1"/>
          <p:nvPr/>
        </p:nvSpPr>
        <p:spPr>
          <a:xfrm>
            <a:off x="1187136" y="3983196"/>
            <a:ext cx="14192799" cy="5555367"/>
          </a:xfrm>
          <a:prstGeom prst="rect">
            <a:avLst/>
          </a:prstGeom>
        </p:spPr>
        <p:txBody>
          <a:bodyPr wrap="square" lIns="0" tIns="0" rIns="0" bIns="0" rtlCol="0" anchor="t">
            <a:spAutoFit/>
          </a:bodyPr>
          <a:lstStyle/>
          <a:p>
            <a:r>
              <a:rPr lang="en-US" sz="1900" dirty="0">
                <a:solidFill>
                  <a:schemeClr val="bg1"/>
                </a:solidFill>
                <a:latin typeface="Montserrat" panose="00000500000000000000" pitchFamily="2" charset="0"/>
              </a:rPr>
              <a:t>To ensure accuracy and reliability of insights, several data cleaning and transformation steps were performed:</a:t>
            </a:r>
          </a:p>
          <a:p>
            <a:r>
              <a:rPr lang="en-US" sz="1900" b="1" dirty="0">
                <a:solidFill>
                  <a:schemeClr val="bg1"/>
                </a:solidFill>
                <a:latin typeface="Montserrat" panose="00000500000000000000" pitchFamily="2" charset="0"/>
              </a:rPr>
              <a:t>Validation and Correction of Financial Metrics</a:t>
            </a:r>
            <a:br>
              <a:rPr lang="en-US" sz="1900" dirty="0">
                <a:solidFill>
                  <a:schemeClr val="bg1"/>
                </a:solidFill>
                <a:latin typeface="Montserrat" panose="00000500000000000000" pitchFamily="2" charset="0"/>
              </a:rPr>
            </a:br>
            <a:r>
              <a:rPr lang="en-US" sz="1900" dirty="0">
                <a:solidFill>
                  <a:schemeClr val="bg1"/>
                </a:solidFill>
                <a:latin typeface="Montserrat" panose="00000500000000000000" pitchFamily="2" charset="0"/>
              </a:rPr>
              <a:t>An initial data quality check revealed inconsistencies in the </a:t>
            </a:r>
            <a:r>
              <a:rPr lang="en-US" sz="1900" i="1" dirty="0">
                <a:solidFill>
                  <a:schemeClr val="bg1"/>
                </a:solidFill>
                <a:latin typeface="Montserrat" panose="00000500000000000000" pitchFamily="2" charset="0"/>
              </a:rPr>
              <a:t>Total Sales</a:t>
            </a:r>
            <a:r>
              <a:rPr lang="en-US" sz="1900" dirty="0">
                <a:solidFill>
                  <a:schemeClr val="bg1"/>
                </a:solidFill>
                <a:latin typeface="Montserrat" panose="00000500000000000000" pitchFamily="2" charset="0"/>
              </a:rPr>
              <a:t> and </a:t>
            </a:r>
            <a:r>
              <a:rPr lang="en-US" sz="1900" i="1" dirty="0">
                <a:solidFill>
                  <a:schemeClr val="bg1"/>
                </a:solidFill>
                <a:latin typeface="Montserrat" panose="00000500000000000000" pitchFamily="2" charset="0"/>
              </a:rPr>
              <a:t>Operating Profit</a:t>
            </a:r>
            <a:r>
              <a:rPr lang="en-US" sz="1900" dirty="0">
                <a:solidFill>
                  <a:schemeClr val="bg1"/>
                </a:solidFill>
                <a:latin typeface="Montserrat" panose="00000500000000000000" pitchFamily="2" charset="0"/>
              </a:rPr>
              <a:t> values. These fields were recalculated using validated formulas to ensure accurate revenue and profitability analysis.</a:t>
            </a:r>
          </a:p>
          <a:p>
            <a:r>
              <a:rPr lang="en-US" sz="1900" b="1" dirty="0">
                <a:solidFill>
                  <a:schemeClr val="bg1"/>
                </a:solidFill>
                <a:latin typeface="Montserrat" panose="00000500000000000000" pitchFamily="2" charset="0"/>
              </a:rPr>
              <a:t>Recalculation of Operating Profit</a:t>
            </a:r>
            <a:br>
              <a:rPr lang="en-US" sz="1900" dirty="0">
                <a:solidFill>
                  <a:schemeClr val="bg1"/>
                </a:solidFill>
                <a:latin typeface="Montserrat" panose="00000500000000000000" pitchFamily="2" charset="0"/>
              </a:rPr>
            </a:br>
            <a:r>
              <a:rPr lang="en-US" sz="1900" dirty="0">
                <a:solidFill>
                  <a:schemeClr val="bg1"/>
                </a:solidFill>
                <a:latin typeface="Montserrat" panose="00000500000000000000" pitchFamily="2" charset="0"/>
              </a:rPr>
              <a:t>Operating Profit was recalculated using the corrected Total Sales and Operating Margin values to eliminate calculation errors and standardize profitability measurement across all records.</a:t>
            </a:r>
          </a:p>
          <a:p>
            <a:r>
              <a:rPr lang="en-US" sz="1900" b="1" dirty="0">
                <a:solidFill>
                  <a:schemeClr val="bg1"/>
                </a:solidFill>
                <a:latin typeface="Montserrat" panose="00000500000000000000" pitchFamily="2" charset="0"/>
              </a:rPr>
              <a:t>Date Feature Engineering</a:t>
            </a:r>
            <a:br>
              <a:rPr lang="en-US" sz="1900" dirty="0">
                <a:solidFill>
                  <a:schemeClr val="bg1"/>
                </a:solidFill>
                <a:latin typeface="Montserrat" panose="00000500000000000000" pitchFamily="2" charset="0"/>
              </a:rPr>
            </a:br>
            <a:r>
              <a:rPr lang="en-US" sz="1900" dirty="0">
                <a:solidFill>
                  <a:schemeClr val="bg1"/>
                </a:solidFill>
                <a:latin typeface="Montserrat" panose="00000500000000000000" pitchFamily="2" charset="0"/>
              </a:rPr>
              <a:t>The </a:t>
            </a:r>
            <a:r>
              <a:rPr lang="en-US" sz="1900" i="1" dirty="0">
                <a:solidFill>
                  <a:schemeClr val="bg1"/>
                </a:solidFill>
                <a:latin typeface="Montserrat" panose="00000500000000000000" pitchFamily="2" charset="0"/>
              </a:rPr>
              <a:t>Date</a:t>
            </a:r>
            <a:r>
              <a:rPr lang="en-US" sz="1900" dirty="0">
                <a:solidFill>
                  <a:schemeClr val="bg1"/>
                </a:solidFill>
                <a:latin typeface="Montserrat" panose="00000500000000000000" pitchFamily="2" charset="0"/>
              </a:rPr>
              <a:t> column was separated into:</a:t>
            </a:r>
          </a:p>
          <a:p>
            <a:pPr lvl="1"/>
            <a:r>
              <a:rPr lang="en-US" sz="1900" dirty="0">
                <a:solidFill>
                  <a:schemeClr val="bg1"/>
                </a:solidFill>
                <a:latin typeface="Montserrat" panose="00000500000000000000" pitchFamily="2" charset="0"/>
              </a:rPr>
              <a:t>Year</a:t>
            </a:r>
          </a:p>
          <a:p>
            <a:pPr lvl="1"/>
            <a:r>
              <a:rPr lang="en-US" sz="1900" dirty="0">
                <a:solidFill>
                  <a:schemeClr val="bg1"/>
                </a:solidFill>
                <a:latin typeface="Montserrat" panose="00000500000000000000" pitchFamily="2" charset="0"/>
              </a:rPr>
              <a:t>Month</a:t>
            </a:r>
          </a:p>
          <a:p>
            <a:pPr lvl="1"/>
            <a:r>
              <a:rPr lang="en-US" sz="1900" dirty="0">
                <a:solidFill>
                  <a:schemeClr val="bg1"/>
                </a:solidFill>
                <a:latin typeface="Montserrat" panose="00000500000000000000" pitchFamily="2" charset="0"/>
              </a:rPr>
              <a:t>Weekday</a:t>
            </a:r>
          </a:p>
          <a:p>
            <a:r>
              <a:rPr lang="en-US" sz="1900" dirty="0">
                <a:solidFill>
                  <a:schemeClr val="bg1"/>
                </a:solidFill>
                <a:latin typeface="Montserrat" panose="00000500000000000000" pitchFamily="2" charset="0"/>
              </a:rPr>
              <a:t>This enabled time-based analysis, including monthly, yearly, and weekday sales trend evaluations.</a:t>
            </a:r>
          </a:p>
          <a:p>
            <a:r>
              <a:rPr lang="en-US" sz="1900" b="1" dirty="0">
                <a:solidFill>
                  <a:schemeClr val="bg1"/>
                </a:solidFill>
                <a:latin typeface="Montserrat" panose="00000500000000000000" pitchFamily="2" charset="0"/>
              </a:rPr>
              <a:t>Product Categorization</a:t>
            </a:r>
            <a:br>
              <a:rPr lang="en-US" sz="1900" dirty="0">
                <a:solidFill>
                  <a:schemeClr val="bg1"/>
                </a:solidFill>
                <a:latin typeface="Montserrat" panose="00000500000000000000" pitchFamily="2" charset="0"/>
              </a:rPr>
            </a:br>
            <a:r>
              <a:rPr lang="en-US" sz="1900" dirty="0">
                <a:solidFill>
                  <a:schemeClr val="bg1"/>
                </a:solidFill>
                <a:latin typeface="Montserrat" panose="00000500000000000000" pitchFamily="2" charset="0"/>
              </a:rPr>
              <a:t>Product categories were extracted and separated from the </a:t>
            </a:r>
            <a:r>
              <a:rPr lang="en-US" sz="1900" i="1" dirty="0">
                <a:solidFill>
                  <a:schemeClr val="bg1"/>
                </a:solidFill>
                <a:latin typeface="Montserrat" panose="00000500000000000000" pitchFamily="2" charset="0"/>
              </a:rPr>
              <a:t>Product</a:t>
            </a:r>
            <a:r>
              <a:rPr lang="en-US" sz="1900" dirty="0">
                <a:solidFill>
                  <a:schemeClr val="bg1"/>
                </a:solidFill>
                <a:latin typeface="Montserrat" panose="00000500000000000000" pitchFamily="2" charset="0"/>
              </a:rPr>
              <a:t> field to create a standardized </a:t>
            </a:r>
            <a:r>
              <a:rPr lang="en-US" sz="1900" i="1" dirty="0">
                <a:solidFill>
                  <a:schemeClr val="bg1"/>
                </a:solidFill>
                <a:latin typeface="Montserrat" panose="00000500000000000000" pitchFamily="2" charset="0"/>
              </a:rPr>
              <a:t>Product Category</a:t>
            </a:r>
            <a:r>
              <a:rPr lang="en-US" sz="1900" dirty="0">
                <a:solidFill>
                  <a:schemeClr val="bg1"/>
                </a:solidFill>
                <a:latin typeface="Montserrat" panose="00000500000000000000" pitchFamily="2" charset="0"/>
              </a:rPr>
              <a:t> column (e.g., Footwear, Apparel, Accessories). This improved category-level comparison and performance analysis.</a:t>
            </a:r>
          </a:p>
          <a:p>
            <a:r>
              <a:rPr lang="en-US" sz="1900" b="1" dirty="0">
                <a:solidFill>
                  <a:schemeClr val="bg1"/>
                </a:solidFill>
                <a:latin typeface="Montserrat" panose="00000500000000000000" pitchFamily="2" charset="0"/>
              </a:rPr>
              <a:t>Data Consistency Checks</a:t>
            </a:r>
            <a:br>
              <a:rPr lang="en-US" sz="1900" dirty="0">
                <a:solidFill>
                  <a:schemeClr val="bg1"/>
                </a:solidFill>
                <a:latin typeface="Montserrat" panose="00000500000000000000" pitchFamily="2" charset="0"/>
              </a:rPr>
            </a:br>
            <a:r>
              <a:rPr lang="en-US" sz="1900" dirty="0">
                <a:solidFill>
                  <a:schemeClr val="bg1"/>
                </a:solidFill>
                <a:latin typeface="Montserrat" panose="00000500000000000000" pitchFamily="2" charset="0"/>
              </a:rPr>
              <a:t>Additional checks were conducted to ensure consistent formatting across retailer names, sales channels, and regions, reducing duplication and improving pivot table accuracy.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AA324BB-BC60-5198-D6C7-F8D01879AB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5CA80B1-5EEB-45DA-D529-4CDA5B2FC7DC}"/>
              </a:ext>
            </a:extLst>
          </p:cNvPr>
          <p:cNvSpPr/>
          <p:nvPr/>
        </p:nvSpPr>
        <p:spPr>
          <a:xfrm>
            <a:off x="-647015" y="-3991653"/>
            <a:ext cx="7309077" cy="7309077"/>
          </a:xfrm>
          <a:custGeom>
            <a:avLst/>
            <a:gdLst/>
            <a:ahLst/>
            <a:cxnLst/>
            <a:rect l="l" t="t" r="r" b="b"/>
            <a:pathLst>
              <a:path w="7309077" h="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E2F11979-53CE-4529-2C2B-672C85ECE6F1}"/>
              </a:ext>
            </a:extLst>
          </p:cNvPr>
          <p:cNvSpPr/>
          <p:nvPr/>
        </p:nvSpPr>
        <p:spPr>
          <a:xfrm>
            <a:off x="-4190579" y="-671649"/>
            <a:ext cx="6400380" cy="5815149"/>
          </a:xfrm>
          <a:custGeom>
            <a:avLst/>
            <a:gdLst/>
            <a:ahLst/>
            <a:cxnLst/>
            <a:rect l="l" t="t" r="r" b="b"/>
            <a:pathLst>
              <a:path w="8381159" h="8999903">
                <a:moveTo>
                  <a:pt x="0" y="0"/>
                </a:moveTo>
                <a:lnTo>
                  <a:pt x="8381160" y="0"/>
                </a:lnTo>
                <a:lnTo>
                  <a:pt x="8381160" y="8999903"/>
                </a:lnTo>
                <a:lnTo>
                  <a:pt x="0" y="8999903"/>
                </a:lnTo>
                <a:lnTo>
                  <a:pt x="0" y="0"/>
                </a:lnTo>
                <a:close/>
              </a:path>
            </a:pathLst>
          </a:custGeom>
          <a:blipFill>
            <a:blip r:embed="rId4"/>
            <a:stretch>
              <a:fillRect/>
            </a:stretch>
          </a:blipFill>
        </p:spPr>
        <p:txBody>
          <a:bodyPr/>
          <a:lstStyle/>
          <a:p>
            <a:endParaRPr lang="en-US"/>
          </a:p>
        </p:txBody>
      </p:sp>
      <p:sp>
        <p:nvSpPr>
          <p:cNvPr id="4" name="Freeform 4">
            <a:extLst>
              <a:ext uri="{FF2B5EF4-FFF2-40B4-BE49-F238E27FC236}">
                <a16:creationId xmlns:a16="http://schemas.microsoft.com/office/drawing/2014/main" id="{703D197D-CE11-7A26-A23C-475B2C67D150}"/>
              </a:ext>
            </a:extLst>
          </p:cNvPr>
          <p:cNvSpPr/>
          <p:nvPr/>
        </p:nvSpPr>
        <p:spPr>
          <a:xfrm>
            <a:off x="13533941" y="5603762"/>
            <a:ext cx="7309077" cy="7309077"/>
          </a:xfrm>
          <a:custGeom>
            <a:avLst/>
            <a:gdLst/>
            <a:ahLst/>
            <a:cxnLst/>
            <a:rect l="l" t="t" r="r" b="b"/>
            <a:pathLst>
              <a:path w="7309077" h="7309077">
                <a:moveTo>
                  <a:pt x="0" y="0"/>
                </a:moveTo>
                <a:lnTo>
                  <a:pt x="7309077" y="0"/>
                </a:lnTo>
                <a:lnTo>
                  <a:pt x="7309077" y="7309076"/>
                </a:lnTo>
                <a:lnTo>
                  <a:pt x="0" y="7309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EA4221A2-3457-F0EF-42D9-E5A7095C6AF2}"/>
              </a:ext>
            </a:extLst>
          </p:cNvPr>
          <p:cNvSpPr/>
          <p:nvPr/>
        </p:nvSpPr>
        <p:spPr>
          <a:xfrm>
            <a:off x="15163800" y="5603762"/>
            <a:ext cx="8281060" cy="5403874"/>
          </a:xfrm>
          <a:custGeom>
            <a:avLst/>
            <a:gdLst/>
            <a:ahLst/>
            <a:cxnLst/>
            <a:rect l="l" t="t" r="r" b="b"/>
            <a:pathLst>
              <a:path w="9500260" h="8229600">
                <a:moveTo>
                  <a:pt x="0" y="0"/>
                </a:moveTo>
                <a:lnTo>
                  <a:pt x="9500260" y="0"/>
                </a:lnTo>
                <a:lnTo>
                  <a:pt x="9500260" y="8229600"/>
                </a:lnTo>
                <a:lnTo>
                  <a:pt x="0" y="8229600"/>
                </a:lnTo>
                <a:lnTo>
                  <a:pt x="0" y="0"/>
                </a:lnTo>
                <a:close/>
              </a:path>
            </a:pathLst>
          </a:custGeom>
          <a:blipFill>
            <a:blip r:embed="rId5"/>
            <a:stretch>
              <a:fillRect/>
            </a:stretch>
          </a:blipFill>
        </p:spPr>
        <p:txBody>
          <a:bodyPr/>
          <a:lstStyle/>
          <a:p>
            <a:endParaRPr lang="en-US"/>
          </a:p>
        </p:txBody>
      </p:sp>
      <p:sp>
        <p:nvSpPr>
          <p:cNvPr id="6" name="TextBox 6">
            <a:extLst>
              <a:ext uri="{FF2B5EF4-FFF2-40B4-BE49-F238E27FC236}">
                <a16:creationId xmlns:a16="http://schemas.microsoft.com/office/drawing/2014/main" id="{07B1C229-3EB6-8881-F62E-8593FAB66817}"/>
              </a:ext>
            </a:extLst>
          </p:cNvPr>
          <p:cNvSpPr txBox="1"/>
          <p:nvPr/>
        </p:nvSpPr>
        <p:spPr>
          <a:xfrm>
            <a:off x="4152216" y="415290"/>
            <a:ext cx="10635653" cy="1056058"/>
          </a:xfrm>
          <a:prstGeom prst="rect">
            <a:avLst/>
          </a:prstGeom>
        </p:spPr>
        <p:txBody>
          <a:bodyPr wrap="square" lIns="0" tIns="0" rIns="0" bIns="0" rtlCol="0" anchor="t">
            <a:spAutoFit/>
          </a:bodyPr>
          <a:lstStyle/>
          <a:p>
            <a:pPr algn="ctr">
              <a:lnSpc>
                <a:spcPts val="8135"/>
              </a:lnSpc>
            </a:pPr>
            <a:r>
              <a:rPr lang="en-US" sz="7200" b="1" dirty="0">
                <a:solidFill>
                  <a:srgbClr val="FFFFFF"/>
                </a:solidFill>
                <a:latin typeface="Prachason Neue Expanded Bold"/>
                <a:ea typeface="Prachason Neue Expanded Bold"/>
                <a:cs typeface="Prachason Neue Expanded Bold"/>
                <a:sym typeface="Prachason Neue Expanded Bold"/>
              </a:rPr>
              <a:t>Dataset Overview</a:t>
            </a:r>
          </a:p>
        </p:txBody>
      </p:sp>
      <p:sp>
        <p:nvSpPr>
          <p:cNvPr id="8" name="TextBox 8">
            <a:extLst>
              <a:ext uri="{FF2B5EF4-FFF2-40B4-BE49-F238E27FC236}">
                <a16:creationId xmlns:a16="http://schemas.microsoft.com/office/drawing/2014/main" id="{36B48072-EC4D-236D-A5CB-B7C1C435F7A3}"/>
              </a:ext>
            </a:extLst>
          </p:cNvPr>
          <p:cNvSpPr txBox="1"/>
          <p:nvPr/>
        </p:nvSpPr>
        <p:spPr>
          <a:xfrm>
            <a:off x="-381000" y="9590222"/>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
        <p:nvSpPr>
          <p:cNvPr id="9" name="TextBox 9">
            <a:extLst>
              <a:ext uri="{FF2B5EF4-FFF2-40B4-BE49-F238E27FC236}">
                <a16:creationId xmlns:a16="http://schemas.microsoft.com/office/drawing/2014/main" id="{4402AB7C-44DE-BF72-7D61-0B6A88CE7B37}"/>
              </a:ext>
            </a:extLst>
          </p:cNvPr>
          <p:cNvSpPr txBox="1"/>
          <p:nvPr/>
        </p:nvSpPr>
        <p:spPr>
          <a:xfrm>
            <a:off x="1187136" y="802575"/>
            <a:ext cx="2045330" cy="281487"/>
          </a:xfrm>
          <a:prstGeom prst="rect">
            <a:avLst/>
          </a:prstGeom>
        </p:spPr>
        <p:txBody>
          <a:bodyPr wrap="square"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pic>
        <p:nvPicPr>
          <p:cNvPr id="10" name="Picture 9">
            <a:extLst>
              <a:ext uri="{FF2B5EF4-FFF2-40B4-BE49-F238E27FC236}">
                <a16:creationId xmlns:a16="http://schemas.microsoft.com/office/drawing/2014/main" id="{9688257A-F148-14A7-D905-628BBA5FEB8C}"/>
              </a:ext>
            </a:extLst>
          </p:cNvPr>
          <p:cNvPicPr>
            <a:picLocks noChangeAspect="1"/>
          </p:cNvPicPr>
          <p:nvPr/>
        </p:nvPicPr>
        <p:blipFill>
          <a:blip r:embed="rId6"/>
          <a:stretch>
            <a:fillRect/>
          </a:stretch>
        </p:blipFill>
        <p:spPr>
          <a:xfrm>
            <a:off x="15379935" y="-229957"/>
            <a:ext cx="3157135" cy="1770743"/>
          </a:xfrm>
          <a:prstGeom prst="rect">
            <a:avLst/>
          </a:prstGeom>
          <a:ln>
            <a:noFill/>
          </a:ln>
        </p:spPr>
      </p:pic>
      <p:pic>
        <p:nvPicPr>
          <p:cNvPr id="12" name="Picture 11">
            <a:extLst>
              <a:ext uri="{FF2B5EF4-FFF2-40B4-BE49-F238E27FC236}">
                <a16:creationId xmlns:a16="http://schemas.microsoft.com/office/drawing/2014/main" id="{92570B9C-C87E-3E30-6BEC-4FD5B06ACAE1}"/>
              </a:ext>
            </a:extLst>
          </p:cNvPr>
          <p:cNvPicPr>
            <a:picLocks noChangeAspect="1"/>
          </p:cNvPicPr>
          <p:nvPr/>
        </p:nvPicPr>
        <p:blipFill>
          <a:blip r:embed="rId7">
            <a:alphaModFix amt="85000"/>
          </a:blip>
          <a:srcRect t="9861" r="12917"/>
          <a:stretch>
            <a:fillRect/>
          </a:stretch>
        </p:blipFill>
        <p:spPr>
          <a:xfrm>
            <a:off x="685800" y="1333500"/>
            <a:ext cx="15925800" cy="8150925"/>
          </a:xfrm>
          <a:prstGeom prst="rect">
            <a:avLst/>
          </a:prstGeom>
        </p:spPr>
      </p:pic>
    </p:spTree>
    <p:extLst>
      <p:ext uri="{BB962C8B-B14F-4D97-AF65-F5344CB8AC3E}">
        <p14:creationId xmlns:p14="http://schemas.microsoft.com/office/powerpoint/2010/main" val="2978242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5" name="Freeform 5"/>
          <p:cNvSpPr/>
          <p:nvPr/>
        </p:nvSpPr>
        <p:spPr>
          <a:xfrm>
            <a:off x="14812357" y="2099286"/>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TextBox 18"/>
          <p:cNvSpPr txBox="1"/>
          <p:nvPr/>
        </p:nvSpPr>
        <p:spPr>
          <a:xfrm>
            <a:off x="4304318" y="564642"/>
            <a:ext cx="9679364" cy="1009892"/>
          </a:xfrm>
          <a:prstGeom prst="rect">
            <a:avLst/>
          </a:prstGeom>
        </p:spPr>
        <p:txBody>
          <a:bodyPr lIns="0" tIns="0" rIns="0" bIns="0" rtlCol="0" anchor="t">
            <a:spAutoFit/>
          </a:bodyPr>
          <a:lstStyle/>
          <a:p>
            <a:pPr algn="ctr">
              <a:lnSpc>
                <a:spcPts val="8135"/>
              </a:lnSpc>
            </a:pPr>
            <a:r>
              <a:rPr lang="en-US" sz="6000" b="1" dirty="0">
                <a:solidFill>
                  <a:srgbClr val="FFFFFF"/>
                </a:solidFill>
                <a:latin typeface="Prachason Neue Expanded Bold"/>
                <a:ea typeface="Prachason Neue Expanded Bold"/>
                <a:cs typeface="Prachason Neue Expanded Bold"/>
                <a:sym typeface="Prachason Neue Expanded Bold"/>
              </a:rPr>
              <a:t>Dashboard Overview</a:t>
            </a:r>
          </a:p>
        </p:txBody>
      </p:sp>
      <p:sp>
        <p:nvSpPr>
          <p:cNvPr id="19" name="Freeform 19"/>
          <p:cNvSpPr/>
          <p:nvPr/>
        </p:nvSpPr>
        <p:spPr>
          <a:xfrm rot="-2401554" flipH="1">
            <a:off x="15219974" y="-620515"/>
            <a:ext cx="7355789" cy="7227063"/>
          </a:xfrm>
          <a:custGeom>
            <a:avLst/>
            <a:gdLst/>
            <a:ahLst/>
            <a:cxnLst/>
            <a:rect l="l" t="t" r="r" b="b"/>
            <a:pathLst>
              <a:path w="7355789" h="7227063">
                <a:moveTo>
                  <a:pt x="7355789" y="0"/>
                </a:moveTo>
                <a:lnTo>
                  <a:pt x="0" y="0"/>
                </a:lnTo>
                <a:lnTo>
                  <a:pt x="0" y="7227063"/>
                </a:lnTo>
                <a:lnTo>
                  <a:pt x="7355789" y="7227063"/>
                </a:lnTo>
                <a:lnTo>
                  <a:pt x="7355789" y="0"/>
                </a:lnTo>
                <a:close/>
              </a:path>
            </a:pathLst>
          </a:custGeom>
          <a:blipFill>
            <a:blip r:embed="rId4"/>
            <a:stretch>
              <a:fillRect/>
            </a:stretch>
          </a:blipFill>
        </p:spPr>
        <p:txBody>
          <a:bodyPr/>
          <a:lstStyle/>
          <a:p>
            <a:endParaRPr lang="en-US"/>
          </a:p>
        </p:txBody>
      </p:sp>
      <p:sp>
        <p:nvSpPr>
          <p:cNvPr id="20" name="Freeform 20"/>
          <p:cNvSpPr/>
          <p:nvPr/>
        </p:nvSpPr>
        <p:spPr>
          <a:xfrm rot="-4262330">
            <a:off x="-1391161" y="6614613"/>
            <a:ext cx="7694676" cy="8229600"/>
          </a:xfrm>
          <a:custGeom>
            <a:avLst/>
            <a:gdLst/>
            <a:ahLst/>
            <a:cxnLst/>
            <a:rect l="l" t="t" r="r" b="b"/>
            <a:pathLst>
              <a:path w="7694676" h="8229600">
                <a:moveTo>
                  <a:pt x="0" y="0"/>
                </a:moveTo>
                <a:lnTo>
                  <a:pt x="7694676" y="0"/>
                </a:lnTo>
                <a:lnTo>
                  <a:pt x="7694676" y="8229600"/>
                </a:lnTo>
                <a:lnTo>
                  <a:pt x="0" y="8229600"/>
                </a:lnTo>
                <a:lnTo>
                  <a:pt x="0" y="0"/>
                </a:lnTo>
                <a:close/>
              </a:path>
            </a:pathLst>
          </a:custGeom>
          <a:blipFill>
            <a:blip r:embed="rId5"/>
            <a:stretch>
              <a:fillRect/>
            </a:stretch>
          </a:blipFill>
        </p:spPr>
        <p:txBody>
          <a:bodyPr/>
          <a:lstStyle/>
          <a:p>
            <a:endParaRPr lang="en-US"/>
          </a:p>
        </p:txBody>
      </p:sp>
      <p:sp>
        <p:nvSpPr>
          <p:cNvPr id="21" name="Freeform 21"/>
          <p:cNvSpPr/>
          <p:nvPr/>
        </p:nvSpPr>
        <p:spPr>
          <a:xfrm>
            <a:off x="-854976" y="-4064690"/>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2" name="TextBox 22"/>
          <p:cNvSpPr txBox="1"/>
          <p:nvPr/>
        </p:nvSpPr>
        <p:spPr>
          <a:xfrm>
            <a:off x="1028700" y="990600"/>
            <a:ext cx="4940930" cy="281487"/>
          </a:xfrm>
          <a:prstGeom prst="rect">
            <a:avLst/>
          </a:prstGeom>
        </p:spPr>
        <p:txBody>
          <a:bodyPr lIns="0" tIns="0" rIns="0" bIns="0" rtlCol="0" anchor="t">
            <a:spAutoFit/>
          </a:bodyPr>
          <a:lstStyle/>
          <a:p>
            <a:pPr algn="l">
              <a:lnSpc>
                <a:spcPts val="2367"/>
              </a:lnSpc>
            </a:pPr>
            <a:r>
              <a:rPr lang="en-US" sz="1599" spc="371" dirty="0">
                <a:solidFill>
                  <a:srgbClr val="FFFFFF"/>
                </a:solidFill>
                <a:latin typeface="Montserrat"/>
                <a:ea typeface="Montserrat"/>
                <a:cs typeface="Montserrat"/>
                <a:sym typeface="Montserrat"/>
              </a:rPr>
              <a:t>Group 10</a:t>
            </a:r>
          </a:p>
        </p:txBody>
      </p:sp>
      <p:pic>
        <p:nvPicPr>
          <p:cNvPr id="3" name="Picture 2">
            <a:extLst>
              <a:ext uri="{FF2B5EF4-FFF2-40B4-BE49-F238E27FC236}">
                <a16:creationId xmlns:a16="http://schemas.microsoft.com/office/drawing/2014/main" id="{ECE9407A-5BEC-9740-2E4E-676F63001F10}"/>
              </a:ext>
            </a:extLst>
          </p:cNvPr>
          <p:cNvPicPr>
            <a:picLocks noChangeAspect="1"/>
          </p:cNvPicPr>
          <p:nvPr/>
        </p:nvPicPr>
        <p:blipFill>
          <a:blip r:embed="rId6">
            <a:alphaModFix amt="85000"/>
            <a:extLst>
              <a:ext uri="{28A0092B-C50C-407E-A947-70E740481C1C}">
                <a14:useLocalDpi xmlns:a14="http://schemas.microsoft.com/office/drawing/2010/main" val="0"/>
              </a:ext>
            </a:extLst>
          </a:blip>
          <a:srcRect t="10126" b="7031"/>
          <a:stretch>
            <a:fillRect/>
          </a:stretch>
        </p:blipFill>
        <p:spPr>
          <a:xfrm>
            <a:off x="457200" y="2099287"/>
            <a:ext cx="17602200" cy="7623072"/>
          </a:xfrm>
          <a:prstGeom prst="rect">
            <a:avLst/>
          </a:prstGeom>
        </p:spPr>
      </p:pic>
      <p:pic>
        <p:nvPicPr>
          <p:cNvPr id="2" name="Picture 1">
            <a:extLst>
              <a:ext uri="{FF2B5EF4-FFF2-40B4-BE49-F238E27FC236}">
                <a16:creationId xmlns:a16="http://schemas.microsoft.com/office/drawing/2014/main" id="{66CDC8E3-5B14-2F66-3E92-2506101D188A}"/>
              </a:ext>
            </a:extLst>
          </p:cNvPr>
          <p:cNvPicPr>
            <a:picLocks noChangeAspect="1"/>
          </p:cNvPicPr>
          <p:nvPr/>
        </p:nvPicPr>
        <p:blipFill>
          <a:blip r:embed="rId7"/>
          <a:stretch>
            <a:fillRect/>
          </a:stretch>
        </p:blipFill>
        <p:spPr>
          <a:xfrm>
            <a:off x="14368865" y="386715"/>
            <a:ext cx="3157135" cy="1770743"/>
          </a:xfrm>
          <a:prstGeom prst="rect">
            <a:avLst/>
          </a:prstGeom>
          <a:ln>
            <a:noFill/>
          </a:ln>
        </p:spPr>
      </p:pic>
      <p:sp>
        <p:nvSpPr>
          <p:cNvPr id="4" name="TextBox 8">
            <a:extLst>
              <a:ext uri="{FF2B5EF4-FFF2-40B4-BE49-F238E27FC236}">
                <a16:creationId xmlns:a16="http://schemas.microsoft.com/office/drawing/2014/main" id="{3CD0C7FF-AF9F-1938-0960-E9073192D3FC}"/>
              </a:ext>
            </a:extLst>
          </p:cNvPr>
          <p:cNvSpPr txBox="1"/>
          <p:nvPr/>
        </p:nvSpPr>
        <p:spPr>
          <a:xfrm>
            <a:off x="-381000" y="9590222"/>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3861169" y="-1269361"/>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2782028">
            <a:off x="-4700243" y="-9367521"/>
            <a:ext cx="13714032" cy="14726478"/>
          </a:xfrm>
          <a:custGeom>
            <a:avLst/>
            <a:gdLst/>
            <a:ahLst/>
            <a:cxnLst/>
            <a:rect l="l" t="t" r="r" b="b"/>
            <a:pathLst>
              <a:path w="13714032" h="14726478">
                <a:moveTo>
                  <a:pt x="0" y="0"/>
                </a:moveTo>
                <a:lnTo>
                  <a:pt x="13714033" y="0"/>
                </a:lnTo>
                <a:lnTo>
                  <a:pt x="13714033" y="14726478"/>
                </a:lnTo>
                <a:lnTo>
                  <a:pt x="0" y="14726478"/>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6424498" y="1352591"/>
            <a:ext cx="7772880" cy="2094804"/>
          </a:xfrm>
          <a:prstGeom prst="rect">
            <a:avLst/>
          </a:prstGeom>
        </p:spPr>
        <p:txBody>
          <a:bodyPr lIns="0" tIns="0" rIns="0" bIns="0" rtlCol="0" anchor="t">
            <a:spAutoFit/>
          </a:bodyPr>
          <a:lstStyle/>
          <a:p>
            <a:pPr algn="ctr">
              <a:lnSpc>
                <a:spcPts val="8135"/>
              </a:lnSpc>
            </a:pPr>
            <a:r>
              <a:rPr lang="en-US" sz="7200" b="1" dirty="0">
                <a:solidFill>
                  <a:srgbClr val="FFFFFF"/>
                </a:solidFill>
                <a:latin typeface="Prachason Neue Expanded Bold"/>
                <a:ea typeface="Prachason Neue Expanded Bold"/>
                <a:cs typeface="Prachason Neue Expanded Bold"/>
                <a:sym typeface="Prachason Neue Expanded Bold"/>
              </a:rPr>
              <a:t>KPIs OVERVIEW</a:t>
            </a:r>
          </a:p>
        </p:txBody>
      </p:sp>
      <p:sp>
        <p:nvSpPr>
          <p:cNvPr id="5" name="TextBox 5"/>
          <p:cNvSpPr txBox="1"/>
          <p:nvPr/>
        </p:nvSpPr>
        <p:spPr>
          <a:xfrm>
            <a:off x="721792" y="4846122"/>
            <a:ext cx="3719127" cy="449472"/>
          </a:xfrm>
          <a:prstGeom prst="rect">
            <a:avLst/>
          </a:prstGeom>
        </p:spPr>
        <p:txBody>
          <a:bodyPr lIns="0" tIns="0" rIns="0" bIns="0" rtlCol="0" anchor="t">
            <a:spAutoFit/>
          </a:bodyPr>
          <a:lstStyle/>
          <a:p>
            <a:pPr algn="ctr">
              <a:lnSpc>
                <a:spcPts val="3770"/>
              </a:lnSpc>
            </a:pPr>
            <a:r>
              <a:rPr lang="en-US" sz="2400" dirty="0">
                <a:solidFill>
                  <a:srgbClr val="FFFFFF"/>
                </a:solidFill>
                <a:latin typeface="Montserrat"/>
                <a:ea typeface="Montserrat"/>
                <a:cs typeface="Montserrat"/>
                <a:sym typeface="Montserrat"/>
              </a:rPr>
              <a:t>Total Sales </a:t>
            </a:r>
          </a:p>
        </p:txBody>
      </p:sp>
      <p:sp>
        <p:nvSpPr>
          <p:cNvPr id="6" name="TextBox 6"/>
          <p:cNvSpPr txBox="1"/>
          <p:nvPr/>
        </p:nvSpPr>
        <p:spPr>
          <a:xfrm>
            <a:off x="685800" y="3924300"/>
            <a:ext cx="3791112" cy="712279"/>
          </a:xfrm>
          <a:prstGeom prst="rect">
            <a:avLst/>
          </a:prstGeom>
        </p:spPr>
        <p:txBody>
          <a:bodyPr lIns="0" tIns="0" rIns="0" bIns="0" rtlCol="0" anchor="t">
            <a:spAutoFit/>
          </a:bodyPr>
          <a:lstStyle/>
          <a:p>
            <a:pPr algn="ctr">
              <a:lnSpc>
                <a:spcPts val="5890"/>
              </a:lnSpc>
            </a:pPr>
            <a:r>
              <a:rPr lang="en-US" sz="4000" b="1" dirty="0">
                <a:solidFill>
                  <a:srgbClr val="FFFFFF"/>
                </a:solidFill>
                <a:latin typeface="Montserrat Bold"/>
                <a:ea typeface="Montserrat Bold"/>
                <a:cs typeface="Montserrat Bold"/>
                <a:sym typeface="Montserrat Bold"/>
              </a:rPr>
              <a:t>$120.2M</a:t>
            </a:r>
          </a:p>
        </p:txBody>
      </p:sp>
      <p:sp>
        <p:nvSpPr>
          <p:cNvPr id="7" name="TextBox 7"/>
          <p:cNvSpPr txBox="1"/>
          <p:nvPr/>
        </p:nvSpPr>
        <p:spPr>
          <a:xfrm>
            <a:off x="5291136" y="4601820"/>
            <a:ext cx="3719127" cy="441531"/>
          </a:xfrm>
          <a:prstGeom prst="rect">
            <a:avLst/>
          </a:prstGeom>
        </p:spPr>
        <p:txBody>
          <a:bodyPr lIns="0" tIns="0" rIns="0" bIns="0" rtlCol="0" anchor="t">
            <a:spAutoFit/>
          </a:bodyPr>
          <a:lstStyle/>
          <a:p>
            <a:pPr algn="ctr">
              <a:lnSpc>
                <a:spcPts val="3770"/>
              </a:lnSpc>
            </a:pPr>
            <a:r>
              <a:rPr lang="en-US" sz="2400" dirty="0">
                <a:solidFill>
                  <a:srgbClr val="FFFFFF"/>
                </a:solidFill>
                <a:latin typeface="Montserrat"/>
                <a:ea typeface="Montserrat"/>
                <a:cs typeface="Montserrat"/>
                <a:sym typeface="Montserrat"/>
              </a:rPr>
              <a:t>Total Operating Margin</a:t>
            </a:r>
          </a:p>
        </p:txBody>
      </p:sp>
      <p:sp>
        <p:nvSpPr>
          <p:cNvPr id="8" name="TextBox 8"/>
          <p:cNvSpPr txBox="1"/>
          <p:nvPr/>
        </p:nvSpPr>
        <p:spPr>
          <a:xfrm>
            <a:off x="5255143" y="3924300"/>
            <a:ext cx="3791112" cy="712279"/>
          </a:xfrm>
          <a:prstGeom prst="rect">
            <a:avLst/>
          </a:prstGeom>
        </p:spPr>
        <p:txBody>
          <a:bodyPr lIns="0" tIns="0" rIns="0" bIns="0" rtlCol="0" anchor="t">
            <a:spAutoFit/>
          </a:bodyPr>
          <a:lstStyle/>
          <a:p>
            <a:pPr algn="ctr">
              <a:lnSpc>
                <a:spcPts val="5890"/>
              </a:lnSpc>
            </a:pPr>
            <a:r>
              <a:rPr lang="en-US" sz="4000" b="1" dirty="0">
                <a:solidFill>
                  <a:srgbClr val="FFFFFF"/>
                </a:solidFill>
                <a:latin typeface="Montserrat Bold"/>
                <a:ea typeface="Montserrat Bold"/>
                <a:cs typeface="Montserrat Bold"/>
                <a:sym typeface="Montserrat Bold"/>
              </a:rPr>
              <a:t>$47.2M</a:t>
            </a:r>
          </a:p>
        </p:txBody>
      </p:sp>
      <p:sp>
        <p:nvSpPr>
          <p:cNvPr id="9" name="TextBox 9"/>
          <p:cNvSpPr txBox="1"/>
          <p:nvPr/>
        </p:nvSpPr>
        <p:spPr>
          <a:xfrm>
            <a:off x="9929972" y="4601820"/>
            <a:ext cx="3719127" cy="441531"/>
          </a:xfrm>
          <a:prstGeom prst="rect">
            <a:avLst/>
          </a:prstGeom>
        </p:spPr>
        <p:txBody>
          <a:bodyPr lIns="0" tIns="0" rIns="0" bIns="0" rtlCol="0" anchor="t">
            <a:spAutoFit/>
          </a:bodyPr>
          <a:lstStyle/>
          <a:p>
            <a:pPr algn="ctr">
              <a:lnSpc>
                <a:spcPts val="3770"/>
              </a:lnSpc>
            </a:pPr>
            <a:r>
              <a:rPr lang="en-US" sz="2400" dirty="0">
                <a:solidFill>
                  <a:srgbClr val="FFFFFF"/>
                </a:solidFill>
                <a:latin typeface="Montserrat"/>
                <a:ea typeface="Montserrat"/>
                <a:cs typeface="Montserrat"/>
                <a:sym typeface="Montserrat"/>
              </a:rPr>
              <a:t>AVG Operating Margin</a:t>
            </a:r>
          </a:p>
        </p:txBody>
      </p:sp>
      <p:sp>
        <p:nvSpPr>
          <p:cNvPr id="10" name="TextBox 10"/>
          <p:cNvSpPr txBox="1"/>
          <p:nvPr/>
        </p:nvSpPr>
        <p:spPr>
          <a:xfrm>
            <a:off x="9893980" y="3924300"/>
            <a:ext cx="3791112" cy="712279"/>
          </a:xfrm>
          <a:prstGeom prst="rect">
            <a:avLst/>
          </a:prstGeom>
        </p:spPr>
        <p:txBody>
          <a:bodyPr lIns="0" tIns="0" rIns="0" bIns="0" rtlCol="0" anchor="t">
            <a:spAutoFit/>
          </a:bodyPr>
          <a:lstStyle/>
          <a:p>
            <a:pPr algn="ctr">
              <a:lnSpc>
                <a:spcPts val="5890"/>
              </a:lnSpc>
            </a:pPr>
            <a:r>
              <a:rPr lang="en-US" sz="4000" b="1" dirty="0">
                <a:solidFill>
                  <a:srgbClr val="FFFFFF"/>
                </a:solidFill>
                <a:latin typeface="Montserrat Bold"/>
                <a:ea typeface="Montserrat Bold"/>
                <a:cs typeface="Montserrat Bold"/>
                <a:sym typeface="Montserrat Bold"/>
              </a:rPr>
              <a:t>42%</a:t>
            </a:r>
          </a:p>
        </p:txBody>
      </p:sp>
      <p:sp>
        <p:nvSpPr>
          <p:cNvPr id="11" name="TextBox 11"/>
          <p:cNvSpPr txBox="1"/>
          <p:nvPr/>
        </p:nvSpPr>
        <p:spPr>
          <a:xfrm>
            <a:off x="6662062" y="8535069"/>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
        <p:nvSpPr>
          <p:cNvPr id="12" name="Freeform 12"/>
          <p:cNvSpPr/>
          <p:nvPr/>
        </p:nvSpPr>
        <p:spPr>
          <a:xfrm>
            <a:off x="13068720" y="7282905"/>
            <a:ext cx="8381159" cy="8999903"/>
          </a:xfrm>
          <a:custGeom>
            <a:avLst/>
            <a:gdLst/>
            <a:ahLst/>
            <a:cxnLst/>
            <a:rect l="l" t="t" r="r" b="b"/>
            <a:pathLst>
              <a:path w="8381159" h="8999903">
                <a:moveTo>
                  <a:pt x="0" y="0"/>
                </a:moveTo>
                <a:lnTo>
                  <a:pt x="8381160" y="0"/>
                </a:lnTo>
                <a:lnTo>
                  <a:pt x="8381160" y="8999902"/>
                </a:lnTo>
                <a:lnTo>
                  <a:pt x="0" y="8999902"/>
                </a:lnTo>
                <a:lnTo>
                  <a:pt x="0" y="0"/>
                </a:lnTo>
                <a:close/>
              </a:path>
            </a:pathLst>
          </a:custGeom>
          <a:blipFill>
            <a:blip r:embed="rId4"/>
            <a:stretch>
              <a:fillRect/>
            </a:stretch>
          </a:blipFill>
        </p:spPr>
        <p:txBody>
          <a:bodyPr/>
          <a:lstStyle/>
          <a:p>
            <a:endParaRPr lang="en-US"/>
          </a:p>
        </p:txBody>
      </p:sp>
      <p:sp>
        <p:nvSpPr>
          <p:cNvPr id="13" name="Freeform 13"/>
          <p:cNvSpPr/>
          <p:nvPr/>
        </p:nvSpPr>
        <p:spPr>
          <a:xfrm>
            <a:off x="15163800" y="-943702"/>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TextBox 14"/>
          <p:cNvSpPr txBox="1"/>
          <p:nvPr/>
        </p:nvSpPr>
        <p:spPr>
          <a:xfrm>
            <a:off x="12318370" y="990600"/>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sp>
        <p:nvSpPr>
          <p:cNvPr id="15" name="TextBox 7">
            <a:extLst>
              <a:ext uri="{FF2B5EF4-FFF2-40B4-BE49-F238E27FC236}">
                <a16:creationId xmlns:a16="http://schemas.microsoft.com/office/drawing/2014/main" id="{2FB47D6D-0723-7851-A299-FC862E2861D2}"/>
              </a:ext>
            </a:extLst>
          </p:cNvPr>
          <p:cNvSpPr txBox="1"/>
          <p:nvPr/>
        </p:nvSpPr>
        <p:spPr>
          <a:xfrm>
            <a:off x="1600200" y="6154256"/>
            <a:ext cx="14173199" cy="2134430"/>
          </a:xfrm>
          <a:prstGeom prst="rect">
            <a:avLst/>
          </a:prstGeom>
        </p:spPr>
        <p:txBody>
          <a:bodyPr wrap="square" lIns="0" tIns="0" rIns="0" bIns="0" rtlCol="0" anchor="t">
            <a:spAutoFit/>
          </a:bodyPr>
          <a:lstStyle/>
          <a:p>
            <a:pPr>
              <a:lnSpc>
                <a:spcPts val="3359"/>
              </a:lnSpc>
            </a:pPr>
            <a:r>
              <a:rPr lang="en-US" sz="2000" b="1" dirty="0">
                <a:solidFill>
                  <a:srgbClr val="FFFFFF"/>
                </a:solidFill>
                <a:latin typeface="Montserrat"/>
                <a:ea typeface="Montserrat"/>
                <a:cs typeface="Montserrat"/>
                <a:sym typeface="Montserrat"/>
              </a:rPr>
              <a:t>Overall Performance .</a:t>
            </a:r>
          </a:p>
          <a:p>
            <a:pPr marL="342900" indent="-342900">
              <a:lnSpc>
                <a:spcPts val="3359"/>
              </a:lnSpc>
              <a:buFont typeface="Arial" panose="020B0604020202020204" pitchFamily="34" charset="0"/>
              <a:buChar char="•"/>
            </a:pPr>
            <a:r>
              <a:rPr lang="en-US" sz="2000" dirty="0">
                <a:solidFill>
                  <a:srgbClr val="FFFFFF"/>
                </a:solidFill>
                <a:latin typeface="Montserrat"/>
                <a:ea typeface="Montserrat"/>
                <a:cs typeface="Montserrat"/>
                <a:sym typeface="Montserrat"/>
              </a:rPr>
              <a:t>Adidas generated $120.2M in total sales during the period.</a:t>
            </a:r>
          </a:p>
          <a:p>
            <a:pPr marL="342900" indent="-342900">
              <a:lnSpc>
                <a:spcPts val="3359"/>
              </a:lnSpc>
              <a:buFont typeface="Arial" panose="020B0604020202020204" pitchFamily="34" charset="0"/>
              <a:buChar char="•"/>
            </a:pPr>
            <a:r>
              <a:rPr lang="en-US" sz="2000" dirty="0">
                <a:solidFill>
                  <a:srgbClr val="FFFFFF"/>
                </a:solidFill>
                <a:latin typeface="Montserrat"/>
                <a:ea typeface="Montserrat"/>
                <a:cs typeface="Montserrat"/>
                <a:sym typeface="Montserrat"/>
              </a:rPr>
              <a:t>Total operating profit reached $47.2M, resulting in a strong average operating margin of 42%.</a:t>
            </a:r>
          </a:p>
          <a:p>
            <a:pPr marL="342900" indent="-342900">
              <a:lnSpc>
                <a:spcPts val="3359"/>
              </a:lnSpc>
              <a:buFont typeface="Arial" panose="020B0604020202020204" pitchFamily="34" charset="0"/>
              <a:buChar char="•"/>
            </a:pPr>
            <a:r>
              <a:rPr lang="en-US" sz="2000" dirty="0">
                <a:solidFill>
                  <a:srgbClr val="FFFFFF"/>
                </a:solidFill>
                <a:latin typeface="Montserrat"/>
                <a:ea typeface="Montserrat"/>
                <a:cs typeface="Montserrat"/>
                <a:sym typeface="Montserrat"/>
              </a:rPr>
              <a:t>This indicates that Adidas is not only driving revenue but also maintaining healthy profitability across its operations.</a:t>
            </a:r>
          </a:p>
        </p:txBody>
      </p:sp>
      <p:sp>
        <p:nvSpPr>
          <p:cNvPr id="16" name="TextBox 9">
            <a:extLst>
              <a:ext uri="{FF2B5EF4-FFF2-40B4-BE49-F238E27FC236}">
                <a16:creationId xmlns:a16="http://schemas.microsoft.com/office/drawing/2014/main" id="{182D8C0E-8667-2170-CBEB-8ED7F8E7259E}"/>
              </a:ext>
            </a:extLst>
          </p:cNvPr>
          <p:cNvSpPr txBox="1"/>
          <p:nvPr/>
        </p:nvSpPr>
        <p:spPr>
          <a:xfrm>
            <a:off x="13946769" y="4601820"/>
            <a:ext cx="3719127" cy="441531"/>
          </a:xfrm>
          <a:prstGeom prst="rect">
            <a:avLst/>
          </a:prstGeom>
        </p:spPr>
        <p:txBody>
          <a:bodyPr lIns="0" tIns="0" rIns="0" bIns="0" rtlCol="0" anchor="t">
            <a:spAutoFit/>
          </a:bodyPr>
          <a:lstStyle/>
          <a:p>
            <a:pPr algn="ctr">
              <a:lnSpc>
                <a:spcPts val="3770"/>
              </a:lnSpc>
            </a:pPr>
            <a:r>
              <a:rPr lang="en-US" sz="2400" dirty="0">
                <a:solidFill>
                  <a:srgbClr val="FFFFFF"/>
                </a:solidFill>
                <a:latin typeface="Montserrat"/>
                <a:ea typeface="Montserrat"/>
                <a:cs typeface="Montserrat"/>
                <a:sym typeface="Montserrat"/>
              </a:rPr>
              <a:t>AVG Unit Sold</a:t>
            </a:r>
          </a:p>
        </p:txBody>
      </p:sp>
      <p:sp>
        <p:nvSpPr>
          <p:cNvPr id="17" name="TextBox 10">
            <a:extLst>
              <a:ext uri="{FF2B5EF4-FFF2-40B4-BE49-F238E27FC236}">
                <a16:creationId xmlns:a16="http://schemas.microsoft.com/office/drawing/2014/main" id="{1DF19893-F590-84AF-1A59-AC7435AE7254}"/>
              </a:ext>
            </a:extLst>
          </p:cNvPr>
          <p:cNvSpPr txBox="1"/>
          <p:nvPr/>
        </p:nvSpPr>
        <p:spPr>
          <a:xfrm>
            <a:off x="13910777" y="3924300"/>
            <a:ext cx="3791112" cy="712279"/>
          </a:xfrm>
          <a:prstGeom prst="rect">
            <a:avLst/>
          </a:prstGeom>
        </p:spPr>
        <p:txBody>
          <a:bodyPr lIns="0" tIns="0" rIns="0" bIns="0" rtlCol="0" anchor="t">
            <a:spAutoFit/>
          </a:bodyPr>
          <a:lstStyle/>
          <a:p>
            <a:pPr algn="ctr">
              <a:lnSpc>
                <a:spcPts val="5890"/>
              </a:lnSpc>
            </a:pPr>
            <a:r>
              <a:rPr lang="en-US" sz="4000" b="1" dirty="0">
                <a:solidFill>
                  <a:srgbClr val="FFFFFF"/>
                </a:solidFill>
                <a:latin typeface="Montserrat Bold"/>
                <a:ea typeface="Montserrat Bold"/>
                <a:cs typeface="Montserrat Bold"/>
                <a:sym typeface="Montserrat Bold"/>
              </a:rPr>
              <a:t>257</a:t>
            </a:r>
          </a:p>
        </p:txBody>
      </p:sp>
      <p:pic>
        <p:nvPicPr>
          <p:cNvPr id="26" name="Picture 25">
            <a:extLst>
              <a:ext uri="{FF2B5EF4-FFF2-40B4-BE49-F238E27FC236}">
                <a16:creationId xmlns:a16="http://schemas.microsoft.com/office/drawing/2014/main" id="{5B137F07-711F-FAAA-3AB1-14D8BF1DE3BD}"/>
              </a:ext>
            </a:extLst>
          </p:cNvPr>
          <p:cNvPicPr>
            <a:picLocks noChangeAspect="1"/>
          </p:cNvPicPr>
          <p:nvPr/>
        </p:nvPicPr>
        <p:blipFill>
          <a:blip r:embed="rId5"/>
          <a:stretch>
            <a:fillRect/>
          </a:stretch>
        </p:blipFill>
        <p:spPr>
          <a:xfrm>
            <a:off x="-303169" y="-190500"/>
            <a:ext cx="3157135" cy="1770743"/>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 name="Freeform 12"/>
          <p:cNvSpPr/>
          <p:nvPr/>
        </p:nvSpPr>
        <p:spPr>
          <a:xfrm>
            <a:off x="-3842159" y="3506279"/>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p:cNvSpPr/>
          <p:nvPr/>
        </p:nvSpPr>
        <p:spPr>
          <a:xfrm>
            <a:off x="14198759" y="-1136877"/>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TextBox 21"/>
          <p:cNvSpPr txBox="1"/>
          <p:nvPr/>
        </p:nvSpPr>
        <p:spPr>
          <a:xfrm>
            <a:off x="1197250" y="1149399"/>
            <a:ext cx="9500260" cy="742639"/>
          </a:xfrm>
          <a:prstGeom prst="rect">
            <a:avLst/>
          </a:prstGeom>
        </p:spPr>
        <p:txBody>
          <a:bodyPr wrap="square" lIns="0" tIns="0" rIns="0" bIns="0" rtlCol="0" anchor="t">
            <a:spAutoFit/>
          </a:bodyPr>
          <a:lstStyle/>
          <a:p>
            <a:pPr algn="just">
              <a:lnSpc>
                <a:spcPts val="5712"/>
              </a:lnSpc>
            </a:pPr>
            <a:r>
              <a:rPr lang="en-US" sz="5054" b="1" dirty="0">
                <a:solidFill>
                  <a:srgbClr val="FFFFFF"/>
                </a:solidFill>
                <a:latin typeface="Prachason Neue Expanded Bold"/>
                <a:ea typeface="Prachason Neue Expanded Bold"/>
                <a:cs typeface="Prachason Neue Expanded Bold"/>
                <a:sym typeface="Prachason Neue Expanded Bold"/>
              </a:rPr>
              <a:t>Key Business Questions</a:t>
            </a:r>
          </a:p>
        </p:txBody>
      </p:sp>
      <p:sp>
        <p:nvSpPr>
          <p:cNvPr id="25" name="Freeform 25"/>
          <p:cNvSpPr/>
          <p:nvPr/>
        </p:nvSpPr>
        <p:spPr>
          <a:xfrm>
            <a:off x="-4283969" y="7200900"/>
            <a:ext cx="8093969" cy="7200900"/>
          </a:xfrm>
          <a:custGeom>
            <a:avLst/>
            <a:gdLst/>
            <a:ahLst/>
            <a:cxnLst/>
            <a:rect l="l" t="t" r="r" b="b"/>
            <a:pathLst>
              <a:path w="9500260" h="8229600">
                <a:moveTo>
                  <a:pt x="0" y="0"/>
                </a:moveTo>
                <a:lnTo>
                  <a:pt x="9500260" y="0"/>
                </a:lnTo>
                <a:lnTo>
                  <a:pt x="9500260" y="8229600"/>
                </a:lnTo>
                <a:lnTo>
                  <a:pt x="0" y="8229600"/>
                </a:lnTo>
                <a:lnTo>
                  <a:pt x="0" y="0"/>
                </a:lnTo>
                <a:close/>
              </a:path>
            </a:pathLst>
          </a:custGeom>
          <a:blipFill>
            <a:blip r:embed="rId4"/>
            <a:stretch>
              <a:fillRect/>
            </a:stretch>
          </a:blipFill>
        </p:spPr>
        <p:txBody>
          <a:bodyPr/>
          <a:lstStyle/>
          <a:p>
            <a:endParaRPr lang="en-US"/>
          </a:p>
        </p:txBody>
      </p:sp>
      <p:sp>
        <p:nvSpPr>
          <p:cNvPr id="26" name="Freeform 26"/>
          <p:cNvSpPr/>
          <p:nvPr/>
        </p:nvSpPr>
        <p:spPr>
          <a:xfrm>
            <a:off x="14477999" y="-3923535"/>
            <a:ext cx="9221019" cy="7924035"/>
          </a:xfrm>
          <a:custGeom>
            <a:avLst/>
            <a:gdLst/>
            <a:ahLst/>
            <a:cxnLst/>
            <a:rect l="l" t="t" r="r" b="b"/>
            <a:pathLst>
              <a:path w="9500260" h="8229600">
                <a:moveTo>
                  <a:pt x="0" y="0"/>
                </a:moveTo>
                <a:lnTo>
                  <a:pt x="9500259" y="0"/>
                </a:lnTo>
                <a:lnTo>
                  <a:pt x="9500259" y="8229600"/>
                </a:lnTo>
                <a:lnTo>
                  <a:pt x="0" y="8229600"/>
                </a:lnTo>
                <a:lnTo>
                  <a:pt x="0" y="0"/>
                </a:lnTo>
                <a:close/>
              </a:path>
            </a:pathLst>
          </a:custGeom>
          <a:blipFill>
            <a:blip r:embed="rId4"/>
            <a:stretch>
              <a:fillRect/>
            </a:stretch>
          </a:blipFill>
        </p:spPr>
        <p:txBody>
          <a:bodyPr/>
          <a:lstStyle/>
          <a:p>
            <a:endParaRPr lang="en-US"/>
          </a:p>
        </p:txBody>
      </p:sp>
      <p:sp>
        <p:nvSpPr>
          <p:cNvPr id="33" name="TextBox 2">
            <a:extLst>
              <a:ext uri="{FF2B5EF4-FFF2-40B4-BE49-F238E27FC236}">
                <a16:creationId xmlns:a16="http://schemas.microsoft.com/office/drawing/2014/main" id="{F71E1A7F-C116-A5C8-CC28-5E6C1ACAF3D6}"/>
              </a:ext>
            </a:extLst>
          </p:cNvPr>
          <p:cNvSpPr txBox="1"/>
          <p:nvPr/>
        </p:nvSpPr>
        <p:spPr>
          <a:xfrm>
            <a:off x="1828800" y="2324100"/>
            <a:ext cx="14173200" cy="7347268"/>
          </a:xfrm>
          <a:prstGeom prst="rect">
            <a:avLst/>
          </a:prstGeom>
        </p:spPr>
        <p:txBody>
          <a:bodyPr wrap="square" lIns="0" tIns="0" rIns="0" bIns="0" rtlCol="0" anchor="t">
            <a:spAutoFit/>
          </a:bodyPr>
          <a:lstStyle/>
          <a:p>
            <a:pPr marL="342900" indent="-342900" algn="just">
              <a:lnSpc>
                <a:spcPts val="3625"/>
              </a:lnSpc>
              <a:buFont typeface="Arial" panose="020B0604020202020204" pitchFamily="34" charset="0"/>
              <a:buChar char="•"/>
            </a:pPr>
            <a:r>
              <a:rPr lang="en-US" sz="2400" b="1" spc="-150" dirty="0">
                <a:solidFill>
                  <a:srgbClr val="FFFFFF"/>
                </a:solidFill>
                <a:latin typeface="Montserrat"/>
                <a:ea typeface="Montserrat"/>
                <a:cs typeface="Montserrat"/>
                <a:sym typeface="Montserrat"/>
              </a:rPr>
              <a:t>Which Adidas product categories generate the highest sales revenue?</a:t>
            </a:r>
          </a:p>
          <a:p>
            <a:pPr marL="342900" indent="-342900" algn="just">
              <a:lnSpc>
                <a:spcPts val="3625"/>
              </a:lnSpc>
              <a:buFont typeface="Arial" panose="020B0604020202020204" pitchFamily="34" charset="0"/>
              <a:buChar char="•"/>
            </a:pPr>
            <a:endParaRPr lang="en-US" sz="2400" spc="-150" dirty="0">
              <a:solidFill>
                <a:srgbClr val="FFFFFF"/>
              </a:solidFill>
              <a:latin typeface="Montserrat"/>
              <a:ea typeface="Montserrat"/>
              <a:cs typeface="Montserrat"/>
              <a:sym typeface="Montserrat"/>
            </a:endParaRPr>
          </a:p>
          <a:p>
            <a:pPr algn="just">
              <a:lnSpc>
                <a:spcPts val="3625"/>
              </a:lnSpc>
            </a:pPr>
            <a:r>
              <a:rPr lang="en-US" sz="2400" spc="-150" dirty="0">
                <a:solidFill>
                  <a:srgbClr val="FFFFFF"/>
                </a:solidFill>
                <a:latin typeface="Montserrat"/>
                <a:ea typeface="Montserrat"/>
                <a:cs typeface="Montserrat"/>
                <a:sym typeface="Montserrat"/>
              </a:rPr>
              <a:t>Footwear is the highest revenue-generating product category, contributing approximately 66.4% of total sales, making it Adidas’ primary revenue driver. Apparel contributes about 33.6%, indicating strong but secondary performance. Accessories contribute a relatively smaller share compared to footwear and apparel.</a:t>
            </a:r>
          </a:p>
          <a:p>
            <a:pPr marL="342900" indent="-342900" algn="just">
              <a:lnSpc>
                <a:spcPts val="3625"/>
              </a:lnSpc>
              <a:buFont typeface="Arial" panose="020B0604020202020204" pitchFamily="34" charset="0"/>
              <a:buChar char="•"/>
            </a:pPr>
            <a:r>
              <a:rPr lang="en-US" sz="2400" b="1" spc="-150" dirty="0">
                <a:solidFill>
                  <a:srgbClr val="FFFFFF"/>
                </a:solidFill>
                <a:latin typeface="Montserrat"/>
                <a:ea typeface="Montserrat"/>
                <a:cs typeface="Montserrat"/>
                <a:sym typeface="Montserrat"/>
              </a:rPr>
              <a:t>What regions or store locations consistently deliver the strongest sales performance?</a:t>
            </a:r>
          </a:p>
          <a:p>
            <a:pPr marL="342900" indent="-342900" algn="just">
              <a:lnSpc>
                <a:spcPts val="3625"/>
              </a:lnSpc>
              <a:buFont typeface="Arial" panose="020B0604020202020204" pitchFamily="34" charset="0"/>
              <a:buChar char="•"/>
            </a:pPr>
            <a:endParaRPr lang="en-US" sz="2400" spc="-150" dirty="0">
              <a:solidFill>
                <a:srgbClr val="FFFFFF"/>
              </a:solidFill>
              <a:latin typeface="Montserrat"/>
              <a:ea typeface="Montserrat"/>
              <a:cs typeface="Montserrat"/>
              <a:sym typeface="Montserrat"/>
            </a:endParaRPr>
          </a:p>
          <a:p>
            <a:pPr algn="just">
              <a:lnSpc>
                <a:spcPts val="3625"/>
              </a:lnSpc>
            </a:pPr>
            <a:r>
              <a:rPr lang="en-US" sz="2400" spc="-150" dirty="0">
                <a:solidFill>
                  <a:srgbClr val="FFFFFF"/>
                </a:solidFill>
                <a:latin typeface="Montserrat"/>
                <a:ea typeface="Montserrat"/>
                <a:cs typeface="Montserrat"/>
                <a:sym typeface="Montserrat"/>
              </a:rPr>
              <a:t>The West region consistently delivers the strongest sales and profitability across most product categories. This is followed by the Northeast and South regions, while the Midwest records comparatively weaker sales performance.</a:t>
            </a:r>
          </a:p>
          <a:p>
            <a:pPr marL="342900" indent="-342900" algn="just">
              <a:lnSpc>
                <a:spcPts val="3625"/>
              </a:lnSpc>
              <a:buFont typeface="Arial" panose="020B0604020202020204" pitchFamily="34" charset="0"/>
              <a:buChar char="•"/>
            </a:pPr>
            <a:r>
              <a:rPr lang="en-US" sz="2400" b="1" spc="-150" dirty="0">
                <a:solidFill>
                  <a:srgbClr val="FFFFFF"/>
                </a:solidFill>
                <a:latin typeface="Montserrat"/>
                <a:ea typeface="Montserrat"/>
                <a:cs typeface="Montserrat"/>
                <a:sym typeface="Montserrat"/>
              </a:rPr>
              <a:t>How do sales trends vary across different time periods?</a:t>
            </a:r>
          </a:p>
          <a:p>
            <a:pPr marL="342900" indent="-342900" algn="just">
              <a:lnSpc>
                <a:spcPts val="3625"/>
              </a:lnSpc>
              <a:buFont typeface="Arial" panose="020B0604020202020204" pitchFamily="34" charset="0"/>
              <a:buChar char="•"/>
            </a:pPr>
            <a:endParaRPr lang="en-US" sz="2400" spc="-150" dirty="0">
              <a:solidFill>
                <a:srgbClr val="FFFFFF"/>
              </a:solidFill>
              <a:latin typeface="Montserrat"/>
              <a:ea typeface="Montserrat"/>
              <a:cs typeface="Montserrat"/>
              <a:sym typeface="Montserrat"/>
            </a:endParaRPr>
          </a:p>
          <a:p>
            <a:pPr algn="just">
              <a:lnSpc>
                <a:spcPts val="3625"/>
              </a:lnSpc>
            </a:pPr>
            <a:r>
              <a:rPr lang="en-US" sz="2400" spc="-150" dirty="0">
                <a:solidFill>
                  <a:srgbClr val="FFFFFF"/>
                </a:solidFill>
                <a:latin typeface="Montserrat"/>
                <a:ea typeface="Montserrat"/>
                <a:cs typeface="Montserrat"/>
                <a:sym typeface="Montserrat"/>
              </a:rPr>
              <a:t>Sales remain relatively stable throughout the year, with noticeable peaks during mid-year (June–August) and a recovery toward December. Lower sales in the early months suggest seasonal demand patterns, indicating opportunities for improved seasonal planning and promotions.</a:t>
            </a:r>
          </a:p>
        </p:txBody>
      </p:sp>
      <p:pic>
        <p:nvPicPr>
          <p:cNvPr id="35" name="Picture 34">
            <a:extLst>
              <a:ext uri="{FF2B5EF4-FFF2-40B4-BE49-F238E27FC236}">
                <a16:creationId xmlns:a16="http://schemas.microsoft.com/office/drawing/2014/main" id="{D6258095-5671-C1E2-67D7-3E088DC98306}"/>
              </a:ext>
            </a:extLst>
          </p:cNvPr>
          <p:cNvPicPr>
            <a:picLocks noChangeAspect="1"/>
          </p:cNvPicPr>
          <p:nvPr/>
        </p:nvPicPr>
        <p:blipFill>
          <a:blip r:embed="rId5"/>
          <a:stretch>
            <a:fillRect/>
          </a:stretch>
        </p:blipFill>
        <p:spPr>
          <a:xfrm>
            <a:off x="15849600" y="-132443"/>
            <a:ext cx="3157135" cy="1770743"/>
          </a:xfrm>
          <a:prstGeom prst="rect">
            <a:avLst/>
          </a:prstGeom>
          <a:ln>
            <a:noFill/>
          </a:ln>
        </p:spPr>
      </p:pic>
      <p:sp>
        <p:nvSpPr>
          <p:cNvPr id="36" name="TextBox 8">
            <a:extLst>
              <a:ext uri="{FF2B5EF4-FFF2-40B4-BE49-F238E27FC236}">
                <a16:creationId xmlns:a16="http://schemas.microsoft.com/office/drawing/2014/main" id="{84C08BAD-98B4-B4E6-38F5-D426A80A66B4}"/>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16E5895-154E-861D-891C-FFE796A40216}"/>
            </a:ext>
          </a:extLst>
        </p:cNvPr>
        <p:cNvGrpSpPr/>
        <p:nvPr/>
      </p:nvGrpSpPr>
      <p:grpSpPr>
        <a:xfrm>
          <a:off x="0" y="0"/>
          <a:ext cx="0" cy="0"/>
          <a:chOff x="0" y="0"/>
          <a:chExt cx="0" cy="0"/>
        </a:xfrm>
      </p:grpSpPr>
      <p:sp>
        <p:nvSpPr>
          <p:cNvPr id="12" name="Freeform 12">
            <a:extLst>
              <a:ext uri="{FF2B5EF4-FFF2-40B4-BE49-F238E27FC236}">
                <a16:creationId xmlns:a16="http://schemas.microsoft.com/office/drawing/2014/main" id="{006F740F-95D7-BD1D-6477-70A7D30EEE0A}"/>
              </a:ext>
            </a:extLst>
          </p:cNvPr>
          <p:cNvSpPr/>
          <p:nvPr/>
        </p:nvSpPr>
        <p:spPr>
          <a:xfrm>
            <a:off x="-3842159" y="3506279"/>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97598658-14C8-4979-1DE8-70825AAEEE79}"/>
              </a:ext>
            </a:extLst>
          </p:cNvPr>
          <p:cNvSpPr/>
          <p:nvPr/>
        </p:nvSpPr>
        <p:spPr>
          <a:xfrm>
            <a:off x="14198759" y="-1136877"/>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TextBox 21">
            <a:extLst>
              <a:ext uri="{FF2B5EF4-FFF2-40B4-BE49-F238E27FC236}">
                <a16:creationId xmlns:a16="http://schemas.microsoft.com/office/drawing/2014/main" id="{4F24B649-457F-C26C-B1B1-71C417CC08E1}"/>
              </a:ext>
            </a:extLst>
          </p:cNvPr>
          <p:cNvSpPr txBox="1"/>
          <p:nvPr/>
        </p:nvSpPr>
        <p:spPr>
          <a:xfrm>
            <a:off x="1197250" y="1149399"/>
            <a:ext cx="9500260" cy="742639"/>
          </a:xfrm>
          <a:prstGeom prst="rect">
            <a:avLst/>
          </a:prstGeom>
        </p:spPr>
        <p:txBody>
          <a:bodyPr wrap="square" lIns="0" tIns="0" rIns="0" bIns="0" rtlCol="0" anchor="t">
            <a:spAutoFit/>
          </a:bodyPr>
          <a:lstStyle/>
          <a:p>
            <a:pPr algn="just">
              <a:lnSpc>
                <a:spcPts val="5712"/>
              </a:lnSpc>
            </a:pPr>
            <a:r>
              <a:rPr lang="en-US" sz="5054" b="1" dirty="0">
                <a:solidFill>
                  <a:srgbClr val="FFFFFF"/>
                </a:solidFill>
                <a:latin typeface="Prachason Neue Expanded Bold"/>
                <a:ea typeface="Prachason Neue Expanded Bold"/>
                <a:cs typeface="Prachason Neue Expanded Bold"/>
                <a:sym typeface="Prachason Neue Expanded Bold"/>
              </a:rPr>
              <a:t>Key Business Questions</a:t>
            </a:r>
          </a:p>
        </p:txBody>
      </p:sp>
      <p:sp>
        <p:nvSpPr>
          <p:cNvPr id="25" name="Freeform 25">
            <a:extLst>
              <a:ext uri="{FF2B5EF4-FFF2-40B4-BE49-F238E27FC236}">
                <a16:creationId xmlns:a16="http://schemas.microsoft.com/office/drawing/2014/main" id="{6BC0EC7A-9837-10A0-DC34-E49241D713F7}"/>
              </a:ext>
            </a:extLst>
          </p:cNvPr>
          <p:cNvSpPr/>
          <p:nvPr/>
        </p:nvSpPr>
        <p:spPr>
          <a:xfrm>
            <a:off x="-4283969" y="7200900"/>
            <a:ext cx="8093969" cy="7200900"/>
          </a:xfrm>
          <a:custGeom>
            <a:avLst/>
            <a:gdLst/>
            <a:ahLst/>
            <a:cxnLst/>
            <a:rect l="l" t="t" r="r" b="b"/>
            <a:pathLst>
              <a:path w="9500260" h="8229600">
                <a:moveTo>
                  <a:pt x="0" y="0"/>
                </a:moveTo>
                <a:lnTo>
                  <a:pt x="9500260" y="0"/>
                </a:lnTo>
                <a:lnTo>
                  <a:pt x="9500260" y="8229600"/>
                </a:lnTo>
                <a:lnTo>
                  <a:pt x="0" y="8229600"/>
                </a:lnTo>
                <a:lnTo>
                  <a:pt x="0" y="0"/>
                </a:lnTo>
                <a:close/>
              </a:path>
            </a:pathLst>
          </a:custGeom>
          <a:blipFill>
            <a:blip r:embed="rId4"/>
            <a:stretch>
              <a:fillRect/>
            </a:stretch>
          </a:blipFill>
        </p:spPr>
        <p:txBody>
          <a:bodyPr/>
          <a:lstStyle/>
          <a:p>
            <a:endParaRPr lang="en-US"/>
          </a:p>
        </p:txBody>
      </p:sp>
      <p:sp>
        <p:nvSpPr>
          <p:cNvPr id="26" name="Freeform 26">
            <a:extLst>
              <a:ext uri="{FF2B5EF4-FFF2-40B4-BE49-F238E27FC236}">
                <a16:creationId xmlns:a16="http://schemas.microsoft.com/office/drawing/2014/main" id="{70E43AFE-BBF8-9EA2-B6F6-02AEAA5CA8B4}"/>
              </a:ext>
            </a:extLst>
          </p:cNvPr>
          <p:cNvSpPr/>
          <p:nvPr/>
        </p:nvSpPr>
        <p:spPr>
          <a:xfrm>
            <a:off x="14477999" y="-3923535"/>
            <a:ext cx="9221019" cy="7924035"/>
          </a:xfrm>
          <a:custGeom>
            <a:avLst/>
            <a:gdLst/>
            <a:ahLst/>
            <a:cxnLst/>
            <a:rect l="l" t="t" r="r" b="b"/>
            <a:pathLst>
              <a:path w="9500260" h="8229600">
                <a:moveTo>
                  <a:pt x="0" y="0"/>
                </a:moveTo>
                <a:lnTo>
                  <a:pt x="9500259" y="0"/>
                </a:lnTo>
                <a:lnTo>
                  <a:pt x="9500259" y="8229600"/>
                </a:lnTo>
                <a:lnTo>
                  <a:pt x="0" y="8229600"/>
                </a:lnTo>
                <a:lnTo>
                  <a:pt x="0" y="0"/>
                </a:lnTo>
                <a:close/>
              </a:path>
            </a:pathLst>
          </a:custGeom>
          <a:blipFill>
            <a:blip r:embed="rId4"/>
            <a:stretch>
              <a:fillRect/>
            </a:stretch>
          </a:blipFill>
        </p:spPr>
        <p:txBody>
          <a:bodyPr/>
          <a:lstStyle/>
          <a:p>
            <a:endParaRPr lang="en-US"/>
          </a:p>
        </p:txBody>
      </p:sp>
      <p:sp>
        <p:nvSpPr>
          <p:cNvPr id="33" name="TextBox 2">
            <a:extLst>
              <a:ext uri="{FF2B5EF4-FFF2-40B4-BE49-F238E27FC236}">
                <a16:creationId xmlns:a16="http://schemas.microsoft.com/office/drawing/2014/main" id="{F6A6024E-3576-7F36-36C2-8C8C9888FB7F}"/>
              </a:ext>
            </a:extLst>
          </p:cNvPr>
          <p:cNvSpPr txBox="1"/>
          <p:nvPr/>
        </p:nvSpPr>
        <p:spPr>
          <a:xfrm>
            <a:off x="1828800" y="1839297"/>
            <a:ext cx="14173200" cy="6891951"/>
          </a:xfrm>
          <a:prstGeom prst="rect">
            <a:avLst/>
          </a:prstGeom>
        </p:spPr>
        <p:txBody>
          <a:bodyPr wrap="square" lIns="0" tIns="0" rIns="0" bIns="0" rtlCol="0" anchor="t">
            <a:spAutoFit/>
          </a:bodyPr>
          <a:lstStyle/>
          <a:p>
            <a:pPr marL="342900" indent="-342900" algn="just">
              <a:lnSpc>
                <a:spcPts val="3625"/>
              </a:lnSpc>
              <a:buFont typeface="Arial" panose="020B0604020202020204" pitchFamily="34" charset="0"/>
              <a:buChar char="•"/>
            </a:pPr>
            <a:r>
              <a:rPr lang="en-US" sz="2600" b="1" spc="-150" dirty="0">
                <a:solidFill>
                  <a:srgbClr val="FFFFFF"/>
                </a:solidFill>
                <a:latin typeface="Montserrat"/>
                <a:ea typeface="Montserrat"/>
                <a:cs typeface="Montserrat"/>
                <a:sym typeface="Montserrat"/>
              </a:rPr>
              <a:t>Who are the top performing retailers?</a:t>
            </a:r>
          </a:p>
          <a:p>
            <a:pPr algn="just">
              <a:lnSpc>
                <a:spcPts val="3625"/>
              </a:lnSpc>
            </a:pPr>
            <a:endParaRPr lang="en-US" sz="2600" spc="-150" dirty="0">
              <a:solidFill>
                <a:srgbClr val="FFFFFF"/>
              </a:solidFill>
              <a:latin typeface="Montserrat"/>
              <a:ea typeface="Montserrat"/>
              <a:cs typeface="Montserrat"/>
              <a:sym typeface="Montserrat"/>
            </a:endParaRPr>
          </a:p>
          <a:p>
            <a:pPr algn="just">
              <a:lnSpc>
                <a:spcPts val="3625"/>
              </a:lnSpc>
            </a:pPr>
            <a:r>
              <a:rPr lang="en-US" sz="2600" spc="-150" dirty="0">
                <a:solidFill>
                  <a:srgbClr val="FFFFFF"/>
                </a:solidFill>
                <a:latin typeface="Montserrat"/>
                <a:ea typeface="Montserrat"/>
                <a:cs typeface="Montserrat"/>
                <a:sym typeface="Montserrat"/>
              </a:rPr>
              <a:t>West Gear and Foot Locker are the top-performing retailers, contributing approximately $32M and $29M in sales respectively. Sports Direct also performs strongly, while Walmart and Amazon generate comparatively lower sales.</a:t>
            </a:r>
          </a:p>
          <a:p>
            <a:pPr marL="342900" indent="-342900" algn="just">
              <a:lnSpc>
                <a:spcPts val="3625"/>
              </a:lnSpc>
              <a:buFont typeface="Arial" panose="020B0604020202020204" pitchFamily="34" charset="0"/>
              <a:buChar char="•"/>
            </a:pPr>
            <a:r>
              <a:rPr lang="en-US" sz="2600" b="1" spc="-150" dirty="0">
                <a:solidFill>
                  <a:srgbClr val="FFFFFF"/>
                </a:solidFill>
                <a:latin typeface="Montserrat"/>
                <a:ea typeface="Montserrat"/>
                <a:cs typeface="Montserrat"/>
                <a:sym typeface="Montserrat"/>
              </a:rPr>
              <a:t>What sales method contributed more to revenue generation?</a:t>
            </a:r>
          </a:p>
          <a:p>
            <a:pPr algn="just">
              <a:lnSpc>
                <a:spcPts val="3625"/>
              </a:lnSpc>
            </a:pPr>
            <a:endParaRPr lang="en-US" sz="2600" spc="-150" dirty="0">
              <a:solidFill>
                <a:srgbClr val="FFFFFF"/>
              </a:solidFill>
              <a:latin typeface="Montserrat"/>
              <a:ea typeface="Montserrat"/>
              <a:cs typeface="Montserrat"/>
              <a:sym typeface="Montserrat"/>
            </a:endParaRPr>
          </a:p>
          <a:p>
            <a:pPr algn="just">
              <a:lnSpc>
                <a:spcPts val="3625"/>
              </a:lnSpc>
            </a:pPr>
            <a:r>
              <a:rPr lang="en-US" sz="2600" spc="-150" dirty="0">
                <a:solidFill>
                  <a:srgbClr val="FFFFFF"/>
                </a:solidFill>
                <a:latin typeface="Montserrat"/>
                <a:ea typeface="Montserrat"/>
                <a:cs typeface="Montserrat"/>
                <a:sym typeface="Montserrat"/>
              </a:rPr>
              <a:t>Online sales contribute the highest share of revenue, generating approximately $44.97M, followed by outlet sales ($39.54M) and in-store sales ($35.66M). This highlights a growing preference for digital and value-driven purchasing channels.</a:t>
            </a:r>
          </a:p>
          <a:p>
            <a:pPr marL="342900" indent="-342900" algn="just">
              <a:lnSpc>
                <a:spcPts val="3625"/>
              </a:lnSpc>
              <a:buFont typeface="Arial" panose="020B0604020202020204" pitchFamily="34" charset="0"/>
              <a:buChar char="•"/>
            </a:pPr>
            <a:r>
              <a:rPr lang="en-US" sz="2600" b="1" spc="-150" dirty="0">
                <a:solidFill>
                  <a:srgbClr val="FFFFFF"/>
                </a:solidFill>
                <a:latin typeface="Montserrat"/>
                <a:ea typeface="Montserrat"/>
                <a:cs typeface="Montserrat"/>
                <a:sym typeface="Montserrat"/>
              </a:rPr>
              <a:t>Are there specific products that show strong growth potential or declining demand?</a:t>
            </a:r>
          </a:p>
          <a:p>
            <a:pPr algn="just">
              <a:lnSpc>
                <a:spcPts val="3625"/>
              </a:lnSpc>
            </a:pPr>
            <a:endParaRPr lang="en-US" sz="2600" spc="-150" dirty="0">
              <a:solidFill>
                <a:srgbClr val="FFFFFF"/>
              </a:solidFill>
              <a:latin typeface="Montserrat"/>
              <a:ea typeface="Montserrat"/>
              <a:cs typeface="Montserrat"/>
              <a:sym typeface="Montserrat"/>
            </a:endParaRPr>
          </a:p>
          <a:p>
            <a:pPr algn="just">
              <a:lnSpc>
                <a:spcPts val="3625"/>
              </a:lnSpc>
            </a:pPr>
            <a:r>
              <a:rPr lang="en-US" sz="2600" spc="-150" dirty="0">
                <a:solidFill>
                  <a:srgbClr val="FFFFFF"/>
                </a:solidFill>
                <a:latin typeface="Montserrat"/>
                <a:ea typeface="Montserrat"/>
                <a:cs typeface="Montserrat"/>
                <a:sym typeface="Montserrat"/>
              </a:rPr>
              <a:t>Men’s Street Footwear and Women’s Apparel demonstrate strong growth potential, particularly in the West and Northeast regions. In contrast, certain product lines show weaker demand in the Midwest and Southeast, indicating declining or inconsistent performance in those markets.</a:t>
            </a:r>
          </a:p>
        </p:txBody>
      </p:sp>
      <p:pic>
        <p:nvPicPr>
          <p:cNvPr id="35" name="Picture 34">
            <a:extLst>
              <a:ext uri="{FF2B5EF4-FFF2-40B4-BE49-F238E27FC236}">
                <a16:creationId xmlns:a16="http://schemas.microsoft.com/office/drawing/2014/main" id="{BDEC301F-9708-6FF3-C3BC-B1E784A3DC33}"/>
              </a:ext>
            </a:extLst>
          </p:cNvPr>
          <p:cNvPicPr>
            <a:picLocks noChangeAspect="1"/>
          </p:cNvPicPr>
          <p:nvPr/>
        </p:nvPicPr>
        <p:blipFill>
          <a:blip r:embed="rId5"/>
          <a:stretch>
            <a:fillRect/>
          </a:stretch>
        </p:blipFill>
        <p:spPr>
          <a:xfrm>
            <a:off x="15849600" y="-132443"/>
            <a:ext cx="3157135" cy="1770743"/>
          </a:xfrm>
          <a:prstGeom prst="rect">
            <a:avLst/>
          </a:prstGeom>
          <a:ln>
            <a:noFill/>
          </a:ln>
        </p:spPr>
      </p:pic>
      <p:sp>
        <p:nvSpPr>
          <p:cNvPr id="36" name="TextBox 8">
            <a:extLst>
              <a:ext uri="{FF2B5EF4-FFF2-40B4-BE49-F238E27FC236}">
                <a16:creationId xmlns:a16="http://schemas.microsoft.com/office/drawing/2014/main" id="{791E3387-C1FF-B3AE-06BD-B5546EDE83BE}"/>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extLst>
      <p:ext uri="{BB962C8B-B14F-4D97-AF65-F5344CB8AC3E}">
        <p14:creationId xmlns:p14="http://schemas.microsoft.com/office/powerpoint/2010/main" val="2456145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97A00F8-5FB5-B640-28DF-C860CBF79CA8}"/>
            </a:ext>
          </a:extLst>
        </p:cNvPr>
        <p:cNvGrpSpPr/>
        <p:nvPr/>
      </p:nvGrpSpPr>
      <p:grpSpPr>
        <a:xfrm>
          <a:off x="0" y="0"/>
          <a:ext cx="0" cy="0"/>
          <a:chOff x="0" y="0"/>
          <a:chExt cx="0" cy="0"/>
        </a:xfrm>
      </p:grpSpPr>
      <p:sp>
        <p:nvSpPr>
          <p:cNvPr id="12" name="Freeform 12">
            <a:extLst>
              <a:ext uri="{FF2B5EF4-FFF2-40B4-BE49-F238E27FC236}">
                <a16:creationId xmlns:a16="http://schemas.microsoft.com/office/drawing/2014/main" id="{316D9BAF-47BE-4393-FA00-D9FCA736C6A9}"/>
              </a:ext>
            </a:extLst>
          </p:cNvPr>
          <p:cNvSpPr/>
          <p:nvPr/>
        </p:nvSpPr>
        <p:spPr>
          <a:xfrm>
            <a:off x="-3842159" y="3506279"/>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CB80449B-680E-70F3-260C-2ECA05254608}"/>
              </a:ext>
            </a:extLst>
          </p:cNvPr>
          <p:cNvSpPr/>
          <p:nvPr/>
        </p:nvSpPr>
        <p:spPr>
          <a:xfrm>
            <a:off x="14198759" y="-1136877"/>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TextBox 21">
            <a:extLst>
              <a:ext uri="{FF2B5EF4-FFF2-40B4-BE49-F238E27FC236}">
                <a16:creationId xmlns:a16="http://schemas.microsoft.com/office/drawing/2014/main" id="{6166C12E-0FD2-ED5E-4928-C1EE0B943BF2}"/>
              </a:ext>
            </a:extLst>
          </p:cNvPr>
          <p:cNvSpPr txBox="1"/>
          <p:nvPr/>
        </p:nvSpPr>
        <p:spPr>
          <a:xfrm>
            <a:off x="1197250" y="1149399"/>
            <a:ext cx="9500260" cy="742639"/>
          </a:xfrm>
          <a:prstGeom prst="rect">
            <a:avLst/>
          </a:prstGeom>
        </p:spPr>
        <p:txBody>
          <a:bodyPr wrap="square" lIns="0" tIns="0" rIns="0" bIns="0" rtlCol="0" anchor="t">
            <a:spAutoFit/>
          </a:bodyPr>
          <a:lstStyle/>
          <a:p>
            <a:pPr algn="just">
              <a:lnSpc>
                <a:spcPts val="5712"/>
              </a:lnSpc>
            </a:pPr>
            <a:r>
              <a:rPr lang="en-US" sz="5054" b="1" dirty="0">
                <a:solidFill>
                  <a:srgbClr val="FFFFFF"/>
                </a:solidFill>
                <a:latin typeface="Prachason Neue Expanded Bold"/>
                <a:ea typeface="Prachason Neue Expanded Bold"/>
                <a:cs typeface="Prachason Neue Expanded Bold"/>
                <a:sym typeface="Prachason Neue Expanded Bold"/>
              </a:rPr>
              <a:t>Key Business Questions</a:t>
            </a:r>
          </a:p>
        </p:txBody>
      </p:sp>
      <p:sp>
        <p:nvSpPr>
          <p:cNvPr id="25" name="Freeform 25">
            <a:extLst>
              <a:ext uri="{FF2B5EF4-FFF2-40B4-BE49-F238E27FC236}">
                <a16:creationId xmlns:a16="http://schemas.microsoft.com/office/drawing/2014/main" id="{BC6BDE18-7C64-91A8-29A2-F9A6495B3AD4}"/>
              </a:ext>
            </a:extLst>
          </p:cNvPr>
          <p:cNvSpPr/>
          <p:nvPr/>
        </p:nvSpPr>
        <p:spPr>
          <a:xfrm>
            <a:off x="-4283969" y="7200900"/>
            <a:ext cx="8093969" cy="7200900"/>
          </a:xfrm>
          <a:custGeom>
            <a:avLst/>
            <a:gdLst/>
            <a:ahLst/>
            <a:cxnLst/>
            <a:rect l="l" t="t" r="r" b="b"/>
            <a:pathLst>
              <a:path w="9500260" h="8229600">
                <a:moveTo>
                  <a:pt x="0" y="0"/>
                </a:moveTo>
                <a:lnTo>
                  <a:pt x="9500260" y="0"/>
                </a:lnTo>
                <a:lnTo>
                  <a:pt x="9500260" y="8229600"/>
                </a:lnTo>
                <a:lnTo>
                  <a:pt x="0" y="8229600"/>
                </a:lnTo>
                <a:lnTo>
                  <a:pt x="0" y="0"/>
                </a:lnTo>
                <a:close/>
              </a:path>
            </a:pathLst>
          </a:custGeom>
          <a:blipFill>
            <a:blip r:embed="rId4"/>
            <a:stretch>
              <a:fillRect/>
            </a:stretch>
          </a:blipFill>
        </p:spPr>
        <p:txBody>
          <a:bodyPr/>
          <a:lstStyle/>
          <a:p>
            <a:endParaRPr lang="en-US"/>
          </a:p>
        </p:txBody>
      </p:sp>
      <p:sp>
        <p:nvSpPr>
          <p:cNvPr id="26" name="Freeform 26">
            <a:extLst>
              <a:ext uri="{FF2B5EF4-FFF2-40B4-BE49-F238E27FC236}">
                <a16:creationId xmlns:a16="http://schemas.microsoft.com/office/drawing/2014/main" id="{CC3D6908-E373-CF50-C5D7-FD64A7D57BEA}"/>
              </a:ext>
            </a:extLst>
          </p:cNvPr>
          <p:cNvSpPr/>
          <p:nvPr/>
        </p:nvSpPr>
        <p:spPr>
          <a:xfrm>
            <a:off x="14477999" y="-3923535"/>
            <a:ext cx="9221019" cy="7924035"/>
          </a:xfrm>
          <a:custGeom>
            <a:avLst/>
            <a:gdLst/>
            <a:ahLst/>
            <a:cxnLst/>
            <a:rect l="l" t="t" r="r" b="b"/>
            <a:pathLst>
              <a:path w="9500260" h="8229600">
                <a:moveTo>
                  <a:pt x="0" y="0"/>
                </a:moveTo>
                <a:lnTo>
                  <a:pt x="9500259" y="0"/>
                </a:lnTo>
                <a:lnTo>
                  <a:pt x="9500259" y="8229600"/>
                </a:lnTo>
                <a:lnTo>
                  <a:pt x="0" y="8229600"/>
                </a:lnTo>
                <a:lnTo>
                  <a:pt x="0" y="0"/>
                </a:lnTo>
                <a:close/>
              </a:path>
            </a:pathLst>
          </a:custGeom>
          <a:blipFill>
            <a:blip r:embed="rId4"/>
            <a:stretch>
              <a:fillRect/>
            </a:stretch>
          </a:blipFill>
        </p:spPr>
        <p:txBody>
          <a:bodyPr/>
          <a:lstStyle/>
          <a:p>
            <a:endParaRPr lang="en-US"/>
          </a:p>
        </p:txBody>
      </p:sp>
      <p:sp>
        <p:nvSpPr>
          <p:cNvPr id="33" name="TextBox 2">
            <a:extLst>
              <a:ext uri="{FF2B5EF4-FFF2-40B4-BE49-F238E27FC236}">
                <a16:creationId xmlns:a16="http://schemas.microsoft.com/office/drawing/2014/main" id="{F6280478-0B15-B2D7-8D3B-484766030D32}"/>
              </a:ext>
            </a:extLst>
          </p:cNvPr>
          <p:cNvSpPr txBox="1"/>
          <p:nvPr/>
        </p:nvSpPr>
        <p:spPr>
          <a:xfrm>
            <a:off x="1828800" y="1839297"/>
            <a:ext cx="14173200" cy="5506957"/>
          </a:xfrm>
          <a:prstGeom prst="rect">
            <a:avLst/>
          </a:prstGeom>
        </p:spPr>
        <p:txBody>
          <a:bodyPr wrap="square" lIns="0" tIns="0" rIns="0" bIns="0" rtlCol="0" anchor="t">
            <a:spAutoFit/>
          </a:bodyPr>
          <a:lstStyle/>
          <a:p>
            <a:pPr marL="457200" indent="-457200" algn="just">
              <a:lnSpc>
                <a:spcPts val="3625"/>
              </a:lnSpc>
              <a:buFont typeface="Arial" panose="020B0604020202020204" pitchFamily="34" charset="0"/>
              <a:buChar char="•"/>
            </a:pPr>
            <a:r>
              <a:rPr lang="en-US" sz="2600" b="1" spc="-150" dirty="0">
                <a:solidFill>
                  <a:srgbClr val="FFFFFF"/>
                </a:solidFill>
                <a:latin typeface="Montserrat"/>
                <a:ea typeface="Montserrat"/>
                <a:cs typeface="Montserrat"/>
                <a:sym typeface="Montserrat"/>
              </a:rPr>
              <a:t>How do Adidas sales compare to projected targets or benchmarks in different markets?</a:t>
            </a:r>
          </a:p>
          <a:p>
            <a:pPr marL="457200" indent="-457200" algn="just">
              <a:lnSpc>
                <a:spcPts val="3625"/>
              </a:lnSpc>
              <a:buFont typeface="Arial" panose="020B0604020202020204" pitchFamily="34" charset="0"/>
              <a:buChar char="•"/>
            </a:pPr>
            <a:endParaRPr lang="en-US" sz="2600" b="1" spc="-150" dirty="0">
              <a:solidFill>
                <a:srgbClr val="FFFFFF"/>
              </a:solidFill>
              <a:latin typeface="Montserrat"/>
              <a:ea typeface="Montserrat"/>
              <a:cs typeface="Montserrat"/>
              <a:sym typeface="Montserrat"/>
            </a:endParaRPr>
          </a:p>
          <a:p>
            <a:pPr algn="just">
              <a:lnSpc>
                <a:spcPts val="3625"/>
              </a:lnSpc>
            </a:pPr>
            <a:r>
              <a:rPr lang="en-US" sz="2600" spc="-150" dirty="0">
                <a:solidFill>
                  <a:srgbClr val="FFFFFF"/>
                </a:solidFill>
                <a:latin typeface="Montserrat"/>
                <a:ea typeface="Montserrat"/>
                <a:cs typeface="Montserrat"/>
                <a:sym typeface="Montserrat"/>
              </a:rPr>
              <a:t>While explicit projected targets were not provided in the dataset, regional performance comparisons indicate that the West and Northeast regions outperform other markets, suggesting they are closer to or exceeding expected benchmarks. Underperforming regions such as the Midwest may be falling below internal performance expectations.</a:t>
            </a:r>
          </a:p>
          <a:p>
            <a:pPr algn="just">
              <a:lnSpc>
                <a:spcPts val="3625"/>
              </a:lnSpc>
            </a:pPr>
            <a:endParaRPr lang="en-US" sz="2600" spc="-150" dirty="0">
              <a:solidFill>
                <a:srgbClr val="FFFFFF"/>
              </a:solidFill>
              <a:latin typeface="Montserrat"/>
              <a:ea typeface="Montserrat"/>
              <a:cs typeface="Montserrat"/>
              <a:sym typeface="Montserrat"/>
            </a:endParaRPr>
          </a:p>
          <a:p>
            <a:pPr marL="342900" indent="-342900" algn="just">
              <a:lnSpc>
                <a:spcPts val="3625"/>
              </a:lnSpc>
              <a:buFont typeface="Arial" panose="020B0604020202020204" pitchFamily="34" charset="0"/>
              <a:buChar char="•"/>
            </a:pPr>
            <a:r>
              <a:rPr lang="en-US" sz="2600" b="1" spc="-150" dirty="0">
                <a:solidFill>
                  <a:srgbClr val="FFFFFF"/>
                </a:solidFill>
                <a:latin typeface="Montserrat"/>
                <a:ea typeface="Montserrat"/>
                <a:cs typeface="Montserrat"/>
                <a:sym typeface="Montserrat"/>
              </a:rPr>
              <a:t>8. What are the top-performing product lines across regions?</a:t>
            </a:r>
          </a:p>
          <a:p>
            <a:pPr marL="342900" indent="-342900" algn="just">
              <a:lnSpc>
                <a:spcPts val="3625"/>
              </a:lnSpc>
              <a:buFont typeface="Arial" panose="020B0604020202020204" pitchFamily="34" charset="0"/>
              <a:buChar char="•"/>
            </a:pPr>
            <a:endParaRPr lang="en-US" sz="2600" b="1" spc="-150" dirty="0">
              <a:solidFill>
                <a:srgbClr val="FFFFFF"/>
              </a:solidFill>
              <a:latin typeface="Montserrat"/>
              <a:ea typeface="Montserrat"/>
              <a:cs typeface="Montserrat"/>
              <a:sym typeface="Montserrat"/>
            </a:endParaRPr>
          </a:p>
          <a:p>
            <a:pPr algn="just">
              <a:lnSpc>
                <a:spcPts val="3625"/>
              </a:lnSpc>
            </a:pPr>
            <a:r>
              <a:rPr lang="en-US" sz="2600" spc="-150" dirty="0">
                <a:solidFill>
                  <a:srgbClr val="FFFFFF"/>
                </a:solidFill>
                <a:latin typeface="Montserrat"/>
                <a:ea typeface="Montserrat"/>
                <a:cs typeface="Montserrat"/>
                <a:sym typeface="Montserrat"/>
              </a:rPr>
              <a:t>Top-performing product lines are concentrated in the West and Northeast regions, particularly Men’s Street Footwear and Women’s Apparel. Performance varies significantly across other regions, reflecting differences in regional customer preferences and market demand.</a:t>
            </a:r>
          </a:p>
        </p:txBody>
      </p:sp>
      <p:pic>
        <p:nvPicPr>
          <p:cNvPr id="35" name="Picture 34">
            <a:extLst>
              <a:ext uri="{FF2B5EF4-FFF2-40B4-BE49-F238E27FC236}">
                <a16:creationId xmlns:a16="http://schemas.microsoft.com/office/drawing/2014/main" id="{B5A9A356-4E69-C712-6404-0A4359CD89C6}"/>
              </a:ext>
            </a:extLst>
          </p:cNvPr>
          <p:cNvPicPr>
            <a:picLocks noChangeAspect="1"/>
          </p:cNvPicPr>
          <p:nvPr/>
        </p:nvPicPr>
        <p:blipFill>
          <a:blip r:embed="rId5"/>
          <a:stretch>
            <a:fillRect/>
          </a:stretch>
        </p:blipFill>
        <p:spPr>
          <a:xfrm>
            <a:off x="15849600" y="-132443"/>
            <a:ext cx="3157135" cy="1770743"/>
          </a:xfrm>
          <a:prstGeom prst="rect">
            <a:avLst/>
          </a:prstGeom>
          <a:ln>
            <a:noFill/>
          </a:ln>
        </p:spPr>
      </p:pic>
      <p:sp>
        <p:nvSpPr>
          <p:cNvPr id="36" name="TextBox 8">
            <a:extLst>
              <a:ext uri="{FF2B5EF4-FFF2-40B4-BE49-F238E27FC236}">
                <a16:creationId xmlns:a16="http://schemas.microsoft.com/office/drawing/2014/main" id="{68963C46-5E08-5B03-8DF9-490A98CC6236}"/>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extLst>
      <p:ext uri="{BB962C8B-B14F-4D97-AF65-F5344CB8AC3E}">
        <p14:creationId xmlns:p14="http://schemas.microsoft.com/office/powerpoint/2010/main" val="2887027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93BAB7C-B5EE-3F5E-D866-FCA21FA6E832}"/>
            </a:ext>
          </a:extLst>
        </p:cNvPr>
        <p:cNvGrpSpPr/>
        <p:nvPr/>
      </p:nvGrpSpPr>
      <p:grpSpPr>
        <a:xfrm>
          <a:off x="0" y="0"/>
          <a:ext cx="0" cy="0"/>
          <a:chOff x="0" y="0"/>
          <a:chExt cx="0" cy="0"/>
        </a:xfrm>
      </p:grpSpPr>
      <p:sp>
        <p:nvSpPr>
          <p:cNvPr id="12" name="Freeform 12">
            <a:extLst>
              <a:ext uri="{FF2B5EF4-FFF2-40B4-BE49-F238E27FC236}">
                <a16:creationId xmlns:a16="http://schemas.microsoft.com/office/drawing/2014/main" id="{107441FC-5E87-900C-9F89-896DC1616430}"/>
              </a:ext>
            </a:extLst>
          </p:cNvPr>
          <p:cNvSpPr/>
          <p:nvPr/>
        </p:nvSpPr>
        <p:spPr>
          <a:xfrm>
            <a:off x="-3842159" y="3506279"/>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D814E06A-621B-5C03-9315-DBC3A595B418}"/>
              </a:ext>
            </a:extLst>
          </p:cNvPr>
          <p:cNvSpPr/>
          <p:nvPr/>
        </p:nvSpPr>
        <p:spPr>
          <a:xfrm>
            <a:off x="14198759" y="-1136877"/>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TextBox 21">
            <a:extLst>
              <a:ext uri="{FF2B5EF4-FFF2-40B4-BE49-F238E27FC236}">
                <a16:creationId xmlns:a16="http://schemas.microsoft.com/office/drawing/2014/main" id="{DC01320B-879F-05B8-A370-0B775931619C}"/>
              </a:ext>
            </a:extLst>
          </p:cNvPr>
          <p:cNvSpPr txBox="1"/>
          <p:nvPr/>
        </p:nvSpPr>
        <p:spPr>
          <a:xfrm>
            <a:off x="1197250" y="1149399"/>
            <a:ext cx="9500260" cy="742639"/>
          </a:xfrm>
          <a:prstGeom prst="rect">
            <a:avLst/>
          </a:prstGeom>
        </p:spPr>
        <p:txBody>
          <a:bodyPr wrap="square" lIns="0" tIns="0" rIns="0" bIns="0" rtlCol="0" anchor="t">
            <a:spAutoFit/>
          </a:bodyPr>
          <a:lstStyle/>
          <a:p>
            <a:pPr algn="just">
              <a:lnSpc>
                <a:spcPts val="5712"/>
              </a:lnSpc>
            </a:pPr>
            <a:r>
              <a:rPr lang="en-US" sz="5054" b="1" dirty="0">
                <a:solidFill>
                  <a:srgbClr val="FFFFFF"/>
                </a:solidFill>
                <a:latin typeface="Prachason Neue Expanded Bold"/>
                <a:ea typeface="Prachason Neue Expanded Bold"/>
                <a:cs typeface="Prachason Neue Expanded Bold"/>
                <a:sym typeface="Prachason Neue Expanded Bold"/>
              </a:rPr>
              <a:t>Summary of key insights</a:t>
            </a:r>
          </a:p>
        </p:txBody>
      </p:sp>
      <p:sp>
        <p:nvSpPr>
          <p:cNvPr id="25" name="Freeform 25">
            <a:extLst>
              <a:ext uri="{FF2B5EF4-FFF2-40B4-BE49-F238E27FC236}">
                <a16:creationId xmlns:a16="http://schemas.microsoft.com/office/drawing/2014/main" id="{0C7C80C5-351E-4276-26AC-A4128976DE9B}"/>
              </a:ext>
            </a:extLst>
          </p:cNvPr>
          <p:cNvSpPr/>
          <p:nvPr/>
        </p:nvSpPr>
        <p:spPr>
          <a:xfrm>
            <a:off x="-4283969" y="7200900"/>
            <a:ext cx="8093969" cy="7200900"/>
          </a:xfrm>
          <a:custGeom>
            <a:avLst/>
            <a:gdLst/>
            <a:ahLst/>
            <a:cxnLst/>
            <a:rect l="l" t="t" r="r" b="b"/>
            <a:pathLst>
              <a:path w="9500260" h="8229600">
                <a:moveTo>
                  <a:pt x="0" y="0"/>
                </a:moveTo>
                <a:lnTo>
                  <a:pt x="9500260" y="0"/>
                </a:lnTo>
                <a:lnTo>
                  <a:pt x="9500260" y="8229600"/>
                </a:lnTo>
                <a:lnTo>
                  <a:pt x="0" y="8229600"/>
                </a:lnTo>
                <a:lnTo>
                  <a:pt x="0" y="0"/>
                </a:lnTo>
                <a:close/>
              </a:path>
            </a:pathLst>
          </a:custGeom>
          <a:blipFill>
            <a:blip r:embed="rId4"/>
            <a:stretch>
              <a:fillRect/>
            </a:stretch>
          </a:blipFill>
        </p:spPr>
        <p:txBody>
          <a:bodyPr/>
          <a:lstStyle/>
          <a:p>
            <a:endParaRPr lang="en-US"/>
          </a:p>
        </p:txBody>
      </p:sp>
      <p:sp>
        <p:nvSpPr>
          <p:cNvPr id="26" name="Freeform 26">
            <a:extLst>
              <a:ext uri="{FF2B5EF4-FFF2-40B4-BE49-F238E27FC236}">
                <a16:creationId xmlns:a16="http://schemas.microsoft.com/office/drawing/2014/main" id="{2CC24439-B44C-E4B9-3115-20CD54F7DB84}"/>
              </a:ext>
            </a:extLst>
          </p:cNvPr>
          <p:cNvSpPr/>
          <p:nvPr/>
        </p:nvSpPr>
        <p:spPr>
          <a:xfrm>
            <a:off x="14477999" y="-3923535"/>
            <a:ext cx="9221019" cy="7924035"/>
          </a:xfrm>
          <a:custGeom>
            <a:avLst/>
            <a:gdLst/>
            <a:ahLst/>
            <a:cxnLst/>
            <a:rect l="l" t="t" r="r" b="b"/>
            <a:pathLst>
              <a:path w="9500260" h="8229600">
                <a:moveTo>
                  <a:pt x="0" y="0"/>
                </a:moveTo>
                <a:lnTo>
                  <a:pt x="9500259" y="0"/>
                </a:lnTo>
                <a:lnTo>
                  <a:pt x="9500259" y="8229600"/>
                </a:lnTo>
                <a:lnTo>
                  <a:pt x="0" y="8229600"/>
                </a:lnTo>
                <a:lnTo>
                  <a:pt x="0" y="0"/>
                </a:lnTo>
                <a:close/>
              </a:path>
            </a:pathLst>
          </a:custGeom>
          <a:blipFill>
            <a:blip r:embed="rId4"/>
            <a:stretch>
              <a:fillRect/>
            </a:stretch>
          </a:blipFill>
        </p:spPr>
        <p:txBody>
          <a:bodyPr/>
          <a:lstStyle/>
          <a:p>
            <a:endParaRPr lang="en-US"/>
          </a:p>
        </p:txBody>
      </p:sp>
      <p:sp>
        <p:nvSpPr>
          <p:cNvPr id="33" name="TextBox 2">
            <a:extLst>
              <a:ext uri="{FF2B5EF4-FFF2-40B4-BE49-F238E27FC236}">
                <a16:creationId xmlns:a16="http://schemas.microsoft.com/office/drawing/2014/main" id="{E9FF964D-B4AC-8597-0921-26179675B6A7}"/>
              </a:ext>
            </a:extLst>
          </p:cNvPr>
          <p:cNvSpPr txBox="1"/>
          <p:nvPr/>
        </p:nvSpPr>
        <p:spPr>
          <a:xfrm>
            <a:off x="1828800" y="2324100"/>
            <a:ext cx="14173200" cy="6423938"/>
          </a:xfrm>
          <a:prstGeom prst="rect">
            <a:avLst/>
          </a:prstGeom>
        </p:spPr>
        <p:txBody>
          <a:bodyPr wrap="square" lIns="0" tIns="0" rIns="0" bIns="0" rtlCol="0" anchor="t">
            <a:spAutoFit/>
          </a:bodyPr>
          <a:lstStyle/>
          <a:p>
            <a:pPr marL="457200" indent="-457200" algn="just">
              <a:lnSpc>
                <a:spcPts val="3625"/>
              </a:lnSpc>
              <a:buFont typeface="Arial" panose="020B0604020202020204" pitchFamily="34" charset="0"/>
              <a:buChar char="•"/>
            </a:pPr>
            <a:r>
              <a:rPr lang="en-US" sz="2400" spc="-150" dirty="0">
                <a:solidFill>
                  <a:srgbClr val="FFFFFF"/>
                </a:solidFill>
                <a:latin typeface="Montserrat"/>
                <a:ea typeface="Montserrat"/>
                <a:cs typeface="Montserrat"/>
                <a:sym typeface="Montserrat"/>
              </a:rPr>
              <a:t>Sales remain stable throughout the year, with clear peaks between </a:t>
            </a:r>
            <a:r>
              <a:rPr lang="en-US" sz="2400" b="1" spc="-150" dirty="0">
                <a:solidFill>
                  <a:srgbClr val="FFFFFF"/>
                </a:solidFill>
                <a:latin typeface="Montserrat"/>
                <a:ea typeface="Montserrat"/>
                <a:cs typeface="Montserrat"/>
                <a:sym typeface="Montserrat"/>
              </a:rPr>
              <a:t>June and August</a:t>
            </a:r>
            <a:r>
              <a:rPr lang="en-US" sz="2400" spc="-150" dirty="0">
                <a:solidFill>
                  <a:srgbClr val="FFFFFF"/>
                </a:solidFill>
                <a:latin typeface="Montserrat"/>
                <a:ea typeface="Montserrat"/>
                <a:cs typeface="Montserrat"/>
                <a:sym typeface="Montserrat"/>
              </a:rPr>
              <a:t> and a rebound toward December, indicating seasonal demand patterns.</a:t>
            </a:r>
          </a:p>
          <a:p>
            <a:pPr marL="457200" indent="-457200" algn="just">
              <a:lnSpc>
                <a:spcPts val="3625"/>
              </a:lnSpc>
              <a:buFont typeface="Arial" panose="020B0604020202020204" pitchFamily="34" charset="0"/>
              <a:buChar char="•"/>
            </a:pPr>
            <a:endParaRPr lang="en-US" sz="2400" spc="-150"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400" b="1" spc="-150" dirty="0">
                <a:solidFill>
                  <a:srgbClr val="FFFFFF"/>
                </a:solidFill>
                <a:latin typeface="Montserrat"/>
                <a:ea typeface="Montserrat"/>
                <a:cs typeface="Montserrat"/>
                <a:sym typeface="Montserrat"/>
              </a:rPr>
              <a:t>Footwear dominates revenue,</a:t>
            </a:r>
            <a:r>
              <a:rPr lang="en-US" sz="2400" spc="-150" dirty="0">
                <a:solidFill>
                  <a:srgbClr val="FFFFFF"/>
                </a:solidFill>
                <a:latin typeface="Montserrat"/>
                <a:ea typeface="Montserrat"/>
                <a:cs typeface="Montserrat"/>
                <a:sym typeface="Montserrat"/>
              </a:rPr>
              <a:t> contributing approximately </a:t>
            </a:r>
            <a:r>
              <a:rPr lang="en-US" sz="2400" b="1" spc="-150" dirty="0">
                <a:solidFill>
                  <a:srgbClr val="FFFFFF"/>
                </a:solidFill>
                <a:latin typeface="Montserrat"/>
                <a:ea typeface="Montserrat"/>
                <a:cs typeface="Montserrat"/>
                <a:sym typeface="Montserrat"/>
              </a:rPr>
              <a:t>66.4%</a:t>
            </a:r>
            <a:r>
              <a:rPr lang="en-US" sz="2400" spc="-150" dirty="0">
                <a:solidFill>
                  <a:srgbClr val="FFFFFF"/>
                </a:solidFill>
                <a:latin typeface="Montserrat"/>
                <a:ea typeface="Montserrat"/>
                <a:cs typeface="Montserrat"/>
                <a:sym typeface="Montserrat"/>
              </a:rPr>
              <a:t> of total sales, while apparel accounts for </a:t>
            </a:r>
            <a:r>
              <a:rPr lang="en-US" sz="2400" b="1" spc="-150" dirty="0">
                <a:solidFill>
                  <a:srgbClr val="FFFFFF"/>
                </a:solidFill>
                <a:latin typeface="Montserrat"/>
                <a:ea typeface="Montserrat"/>
                <a:cs typeface="Montserrat"/>
                <a:sym typeface="Montserrat"/>
              </a:rPr>
              <a:t>33.6%,</a:t>
            </a:r>
            <a:r>
              <a:rPr lang="en-US" sz="2400" spc="-150" dirty="0">
                <a:solidFill>
                  <a:srgbClr val="FFFFFF"/>
                </a:solidFill>
                <a:latin typeface="Montserrat"/>
                <a:ea typeface="Montserrat"/>
                <a:cs typeface="Montserrat"/>
                <a:sym typeface="Montserrat"/>
              </a:rPr>
              <a:t> highlighting footwear as Adidas’ core revenue driver.</a:t>
            </a:r>
          </a:p>
          <a:p>
            <a:pPr marL="457200" indent="-457200" algn="just">
              <a:lnSpc>
                <a:spcPts val="3625"/>
              </a:lnSpc>
              <a:buFont typeface="Arial" panose="020B0604020202020204" pitchFamily="34" charset="0"/>
              <a:buChar char="•"/>
            </a:pPr>
            <a:endParaRPr lang="en-US" sz="2400" spc="-150"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400" spc="-150" dirty="0">
                <a:solidFill>
                  <a:srgbClr val="FFFFFF"/>
                </a:solidFill>
                <a:latin typeface="Montserrat"/>
                <a:ea typeface="Montserrat"/>
                <a:cs typeface="Montserrat"/>
                <a:sym typeface="Montserrat"/>
              </a:rPr>
              <a:t>The </a:t>
            </a:r>
            <a:r>
              <a:rPr lang="en-US" sz="2400" b="1" spc="-150" dirty="0">
                <a:solidFill>
                  <a:srgbClr val="FFFFFF"/>
                </a:solidFill>
                <a:latin typeface="Montserrat"/>
                <a:ea typeface="Montserrat"/>
                <a:cs typeface="Montserrat"/>
                <a:sym typeface="Montserrat"/>
              </a:rPr>
              <a:t>West region consistently outperforms other regions</a:t>
            </a:r>
            <a:r>
              <a:rPr lang="en-US" sz="2400" spc="-150" dirty="0">
                <a:solidFill>
                  <a:srgbClr val="FFFFFF"/>
                </a:solidFill>
                <a:latin typeface="Montserrat"/>
                <a:ea typeface="Montserrat"/>
                <a:cs typeface="Montserrat"/>
                <a:sym typeface="Montserrat"/>
              </a:rPr>
              <a:t> in both sales and profitability across most product lines.</a:t>
            </a:r>
          </a:p>
          <a:p>
            <a:pPr marL="457200" indent="-457200" algn="just">
              <a:lnSpc>
                <a:spcPts val="3625"/>
              </a:lnSpc>
              <a:buFont typeface="Arial" panose="020B0604020202020204" pitchFamily="34" charset="0"/>
              <a:buChar char="•"/>
            </a:pPr>
            <a:endParaRPr lang="en-US" sz="2400" spc="-150"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400" b="1" spc="-150" dirty="0">
                <a:solidFill>
                  <a:srgbClr val="FFFFFF"/>
                </a:solidFill>
                <a:latin typeface="Montserrat"/>
                <a:ea typeface="Montserrat"/>
                <a:cs typeface="Montserrat"/>
                <a:sym typeface="Montserrat"/>
              </a:rPr>
              <a:t>Men’s Street Footwear and Women’s Apparel </a:t>
            </a:r>
            <a:r>
              <a:rPr lang="en-US" sz="2400" spc="-150" dirty="0">
                <a:solidFill>
                  <a:srgbClr val="FFFFFF"/>
                </a:solidFill>
                <a:latin typeface="Montserrat"/>
                <a:ea typeface="Montserrat"/>
                <a:cs typeface="Montserrat"/>
                <a:sym typeface="Montserrat"/>
              </a:rPr>
              <a:t>show strong demand, particularly in the West and Northeast regions.</a:t>
            </a:r>
          </a:p>
          <a:p>
            <a:pPr marL="457200" indent="-457200" algn="just">
              <a:lnSpc>
                <a:spcPts val="3625"/>
              </a:lnSpc>
              <a:buFont typeface="Arial" panose="020B0604020202020204" pitchFamily="34" charset="0"/>
              <a:buChar char="•"/>
            </a:pPr>
            <a:endParaRPr lang="en-US" sz="2400" spc="-150"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400" spc="-150" dirty="0">
                <a:solidFill>
                  <a:srgbClr val="FFFFFF"/>
                </a:solidFill>
                <a:latin typeface="Montserrat"/>
                <a:ea typeface="Montserrat"/>
                <a:cs typeface="Montserrat"/>
                <a:sym typeface="Montserrat"/>
              </a:rPr>
              <a:t>Several product lines underperform in the </a:t>
            </a:r>
            <a:r>
              <a:rPr lang="en-US" sz="2400" b="1" spc="-150" dirty="0">
                <a:solidFill>
                  <a:srgbClr val="FFFFFF"/>
                </a:solidFill>
                <a:latin typeface="Montserrat"/>
                <a:ea typeface="Montserrat"/>
                <a:cs typeface="Montserrat"/>
                <a:sym typeface="Montserrat"/>
              </a:rPr>
              <a:t>Midwest and Southeast</a:t>
            </a:r>
            <a:r>
              <a:rPr lang="en-US" sz="2400" spc="-150" dirty="0">
                <a:solidFill>
                  <a:srgbClr val="FFFFFF"/>
                </a:solidFill>
                <a:latin typeface="Montserrat"/>
                <a:ea typeface="Montserrat"/>
                <a:cs typeface="Montserrat"/>
                <a:sym typeface="Montserrat"/>
              </a:rPr>
              <a:t>, suggesting uneven regional demand and market fit challenges.</a:t>
            </a:r>
          </a:p>
        </p:txBody>
      </p:sp>
      <p:pic>
        <p:nvPicPr>
          <p:cNvPr id="35" name="Picture 34">
            <a:extLst>
              <a:ext uri="{FF2B5EF4-FFF2-40B4-BE49-F238E27FC236}">
                <a16:creationId xmlns:a16="http://schemas.microsoft.com/office/drawing/2014/main" id="{FDCFD632-50F1-2D80-F220-D0ECA85A6C8A}"/>
              </a:ext>
            </a:extLst>
          </p:cNvPr>
          <p:cNvPicPr>
            <a:picLocks noChangeAspect="1"/>
          </p:cNvPicPr>
          <p:nvPr/>
        </p:nvPicPr>
        <p:blipFill>
          <a:blip r:embed="rId5"/>
          <a:stretch>
            <a:fillRect/>
          </a:stretch>
        </p:blipFill>
        <p:spPr>
          <a:xfrm>
            <a:off x="15849600" y="-132443"/>
            <a:ext cx="3157135" cy="1770743"/>
          </a:xfrm>
          <a:prstGeom prst="rect">
            <a:avLst/>
          </a:prstGeom>
          <a:ln>
            <a:noFill/>
          </a:ln>
        </p:spPr>
      </p:pic>
      <p:sp>
        <p:nvSpPr>
          <p:cNvPr id="36" name="TextBox 8">
            <a:extLst>
              <a:ext uri="{FF2B5EF4-FFF2-40B4-BE49-F238E27FC236}">
                <a16:creationId xmlns:a16="http://schemas.microsoft.com/office/drawing/2014/main" id="{63832817-482C-3620-A201-919BC64C1FCE}"/>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extLst>
      <p:ext uri="{BB962C8B-B14F-4D97-AF65-F5344CB8AC3E}">
        <p14:creationId xmlns:p14="http://schemas.microsoft.com/office/powerpoint/2010/main" val="3573579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37BF36E-5298-70A6-C14B-BB668D0B0D59}"/>
            </a:ext>
          </a:extLst>
        </p:cNvPr>
        <p:cNvGrpSpPr/>
        <p:nvPr/>
      </p:nvGrpSpPr>
      <p:grpSpPr>
        <a:xfrm>
          <a:off x="0" y="0"/>
          <a:ext cx="0" cy="0"/>
          <a:chOff x="0" y="0"/>
          <a:chExt cx="0" cy="0"/>
        </a:xfrm>
      </p:grpSpPr>
      <p:sp>
        <p:nvSpPr>
          <p:cNvPr id="12" name="Freeform 12">
            <a:extLst>
              <a:ext uri="{FF2B5EF4-FFF2-40B4-BE49-F238E27FC236}">
                <a16:creationId xmlns:a16="http://schemas.microsoft.com/office/drawing/2014/main" id="{45F4096A-F77A-3204-5635-49DFB85BA16F}"/>
              </a:ext>
            </a:extLst>
          </p:cNvPr>
          <p:cNvSpPr/>
          <p:nvPr/>
        </p:nvSpPr>
        <p:spPr>
          <a:xfrm>
            <a:off x="-3842159" y="3506279"/>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74C4A0AA-5FBB-DA67-58FE-9905F7DE0ECB}"/>
              </a:ext>
            </a:extLst>
          </p:cNvPr>
          <p:cNvSpPr/>
          <p:nvPr/>
        </p:nvSpPr>
        <p:spPr>
          <a:xfrm>
            <a:off x="14198759" y="-1136877"/>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1" name="TextBox 21">
            <a:extLst>
              <a:ext uri="{FF2B5EF4-FFF2-40B4-BE49-F238E27FC236}">
                <a16:creationId xmlns:a16="http://schemas.microsoft.com/office/drawing/2014/main" id="{6C290921-2B34-DE02-78DC-D9E0F43B1FD4}"/>
              </a:ext>
            </a:extLst>
          </p:cNvPr>
          <p:cNvSpPr txBox="1"/>
          <p:nvPr/>
        </p:nvSpPr>
        <p:spPr>
          <a:xfrm>
            <a:off x="1197250" y="1149399"/>
            <a:ext cx="9500260" cy="742639"/>
          </a:xfrm>
          <a:prstGeom prst="rect">
            <a:avLst/>
          </a:prstGeom>
        </p:spPr>
        <p:txBody>
          <a:bodyPr wrap="square" lIns="0" tIns="0" rIns="0" bIns="0" rtlCol="0" anchor="t">
            <a:spAutoFit/>
          </a:bodyPr>
          <a:lstStyle/>
          <a:p>
            <a:pPr algn="just">
              <a:lnSpc>
                <a:spcPts val="5712"/>
              </a:lnSpc>
            </a:pPr>
            <a:r>
              <a:rPr lang="en-US" sz="5054" b="1" dirty="0">
                <a:solidFill>
                  <a:srgbClr val="FFFFFF"/>
                </a:solidFill>
                <a:latin typeface="Prachason Neue Expanded Bold"/>
                <a:ea typeface="Prachason Neue Expanded Bold"/>
                <a:cs typeface="Prachason Neue Expanded Bold"/>
                <a:sym typeface="Prachason Neue Expanded Bold"/>
              </a:rPr>
              <a:t>Summary of key insights</a:t>
            </a:r>
          </a:p>
        </p:txBody>
      </p:sp>
      <p:sp>
        <p:nvSpPr>
          <p:cNvPr id="25" name="Freeform 25">
            <a:extLst>
              <a:ext uri="{FF2B5EF4-FFF2-40B4-BE49-F238E27FC236}">
                <a16:creationId xmlns:a16="http://schemas.microsoft.com/office/drawing/2014/main" id="{9052A28F-C5C3-9543-74F9-6AFD19FB31BA}"/>
              </a:ext>
            </a:extLst>
          </p:cNvPr>
          <p:cNvSpPr/>
          <p:nvPr/>
        </p:nvSpPr>
        <p:spPr>
          <a:xfrm>
            <a:off x="-4283969" y="7200900"/>
            <a:ext cx="8093969" cy="7200900"/>
          </a:xfrm>
          <a:custGeom>
            <a:avLst/>
            <a:gdLst/>
            <a:ahLst/>
            <a:cxnLst/>
            <a:rect l="l" t="t" r="r" b="b"/>
            <a:pathLst>
              <a:path w="9500260" h="8229600">
                <a:moveTo>
                  <a:pt x="0" y="0"/>
                </a:moveTo>
                <a:lnTo>
                  <a:pt x="9500260" y="0"/>
                </a:lnTo>
                <a:lnTo>
                  <a:pt x="9500260" y="8229600"/>
                </a:lnTo>
                <a:lnTo>
                  <a:pt x="0" y="8229600"/>
                </a:lnTo>
                <a:lnTo>
                  <a:pt x="0" y="0"/>
                </a:lnTo>
                <a:close/>
              </a:path>
            </a:pathLst>
          </a:custGeom>
          <a:blipFill>
            <a:blip r:embed="rId4"/>
            <a:stretch>
              <a:fillRect/>
            </a:stretch>
          </a:blipFill>
        </p:spPr>
        <p:txBody>
          <a:bodyPr/>
          <a:lstStyle/>
          <a:p>
            <a:endParaRPr lang="en-US"/>
          </a:p>
        </p:txBody>
      </p:sp>
      <p:sp>
        <p:nvSpPr>
          <p:cNvPr id="26" name="Freeform 26">
            <a:extLst>
              <a:ext uri="{FF2B5EF4-FFF2-40B4-BE49-F238E27FC236}">
                <a16:creationId xmlns:a16="http://schemas.microsoft.com/office/drawing/2014/main" id="{05F8AB3B-F5B8-1D84-1AB6-BFCD3E14F396}"/>
              </a:ext>
            </a:extLst>
          </p:cNvPr>
          <p:cNvSpPr/>
          <p:nvPr/>
        </p:nvSpPr>
        <p:spPr>
          <a:xfrm>
            <a:off x="14477999" y="-3923535"/>
            <a:ext cx="9221019" cy="7924035"/>
          </a:xfrm>
          <a:custGeom>
            <a:avLst/>
            <a:gdLst/>
            <a:ahLst/>
            <a:cxnLst/>
            <a:rect l="l" t="t" r="r" b="b"/>
            <a:pathLst>
              <a:path w="9500260" h="8229600">
                <a:moveTo>
                  <a:pt x="0" y="0"/>
                </a:moveTo>
                <a:lnTo>
                  <a:pt x="9500259" y="0"/>
                </a:lnTo>
                <a:lnTo>
                  <a:pt x="9500259" y="8229600"/>
                </a:lnTo>
                <a:lnTo>
                  <a:pt x="0" y="8229600"/>
                </a:lnTo>
                <a:lnTo>
                  <a:pt x="0" y="0"/>
                </a:lnTo>
                <a:close/>
              </a:path>
            </a:pathLst>
          </a:custGeom>
          <a:blipFill>
            <a:blip r:embed="rId4"/>
            <a:stretch>
              <a:fillRect/>
            </a:stretch>
          </a:blipFill>
        </p:spPr>
        <p:txBody>
          <a:bodyPr/>
          <a:lstStyle/>
          <a:p>
            <a:endParaRPr lang="en-US"/>
          </a:p>
        </p:txBody>
      </p:sp>
      <p:sp>
        <p:nvSpPr>
          <p:cNvPr id="33" name="TextBox 2">
            <a:extLst>
              <a:ext uri="{FF2B5EF4-FFF2-40B4-BE49-F238E27FC236}">
                <a16:creationId xmlns:a16="http://schemas.microsoft.com/office/drawing/2014/main" id="{5498B310-9F5A-F03A-0897-6AF26D6B2A3A}"/>
              </a:ext>
            </a:extLst>
          </p:cNvPr>
          <p:cNvSpPr txBox="1"/>
          <p:nvPr/>
        </p:nvSpPr>
        <p:spPr>
          <a:xfrm>
            <a:off x="1828800" y="2628900"/>
            <a:ext cx="14173200" cy="5038944"/>
          </a:xfrm>
          <a:prstGeom prst="rect">
            <a:avLst/>
          </a:prstGeom>
        </p:spPr>
        <p:txBody>
          <a:bodyPr wrap="square" lIns="0" tIns="0" rIns="0" bIns="0" rtlCol="0" anchor="t">
            <a:spAutoFit/>
          </a:bodyPr>
          <a:lstStyle/>
          <a:p>
            <a:pPr marL="457200" indent="-457200" algn="just">
              <a:lnSpc>
                <a:spcPts val="3625"/>
              </a:lnSpc>
              <a:buFont typeface="Arial" panose="020B0604020202020204" pitchFamily="34" charset="0"/>
              <a:buChar char="•"/>
            </a:pPr>
            <a:r>
              <a:rPr lang="en-US" sz="2400" b="1" spc="-150" dirty="0">
                <a:solidFill>
                  <a:srgbClr val="FFFFFF"/>
                </a:solidFill>
                <a:latin typeface="Montserrat"/>
                <a:ea typeface="Montserrat"/>
                <a:cs typeface="Montserrat"/>
                <a:sym typeface="Montserrat"/>
              </a:rPr>
              <a:t>The West region leads in operating profit </a:t>
            </a:r>
            <a:r>
              <a:rPr lang="en-US" sz="2400" spc="-150" dirty="0">
                <a:solidFill>
                  <a:srgbClr val="FFFFFF"/>
                </a:solidFill>
                <a:latin typeface="Montserrat"/>
                <a:ea typeface="Montserrat"/>
                <a:cs typeface="Montserrat"/>
                <a:sym typeface="Montserrat"/>
              </a:rPr>
              <a:t>(approximately $13.02M), while the Midwest records the lowest profitability.</a:t>
            </a:r>
          </a:p>
          <a:p>
            <a:pPr marL="457200" indent="-457200" algn="just">
              <a:lnSpc>
                <a:spcPts val="3625"/>
              </a:lnSpc>
              <a:buFont typeface="Arial" panose="020B0604020202020204" pitchFamily="34" charset="0"/>
              <a:buChar char="•"/>
            </a:pPr>
            <a:endParaRPr lang="en-US" sz="2400" spc="-150"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400" b="1" spc="-150" dirty="0">
                <a:solidFill>
                  <a:srgbClr val="FFFFFF"/>
                </a:solidFill>
                <a:latin typeface="Montserrat"/>
                <a:ea typeface="Montserrat"/>
                <a:cs typeface="Montserrat"/>
                <a:sym typeface="Montserrat"/>
              </a:rPr>
              <a:t>West Gear and Foot Locker a</a:t>
            </a:r>
            <a:r>
              <a:rPr lang="en-US" sz="2400" spc="-150" dirty="0">
                <a:solidFill>
                  <a:srgbClr val="FFFFFF"/>
                </a:solidFill>
                <a:latin typeface="Montserrat"/>
                <a:ea typeface="Montserrat"/>
                <a:cs typeface="Montserrat"/>
                <a:sym typeface="Montserrat"/>
              </a:rPr>
              <a:t>re the top-performing retail partners, with Sports Direct also contributing significantly to total sales.</a:t>
            </a:r>
          </a:p>
          <a:p>
            <a:pPr marL="457200" indent="-457200" algn="just">
              <a:lnSpc>
                <a:spcPts val="3625"/>
              </a:lnSpc>
              <a:buFont typeface="Arial" panose="020B0604020202020204" pitchFamily="34" charset="0"/>
              <a:buChar char="•"/>
            </a:pPr>
            <a:endParaRPr lang="en-US" sz="2400" spc="-150"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400" b="1" spc="-150" dirty="0">
                <a:solidFill>
                  <a:srgbClr val="FFFFFF"/>
                </a:solidFill>
                <a:latin typeface="Montserrat"/>
                <a:ea typeface="Montserrat"/>
                <a:cs typeface="Montserrat"/>
                <a:sym typeface="Montserrat"/>
              </a:rPr>
              <a:t>Walmart and Amazon </a:t>
            </a:r>
            <a:r>
              <a:rPr lang="en-US" sz="2400" spc="-150" dirty="0">
                <a:solidFill>
                  <a:srgbClr val="FFFFFF"/>
                </a:solidFill>
                <a:latin typeface="Montserrat"/>
                <a:ea typeface="Montserrat"/>
                <a:cs typeface="Montserrat"/>
                <a:sym typeface="Montserrat"/>
              </a:rPr>
              <a:t>generate comparatively lower sales, indicating potential underutilization or channel misalignment.</a:t>
            </a:r>
          </a:p>
          <a:p>
            <a:pPr algn="just">
              <a:lnSpc>
                <a:spcPts val="3625"/>
              </a:lnSpc>
            </a:pPr>
            <a:endParaRPr lang="en-US" sz="2400" spc="-150"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400" b="1" spc="-150" dirty="0">
                <a:solidFill>
                  <a:srgbClr val="FFFFFF"/>
                </a:solidFill>
                <a:latin typeface="Montserrat"/>
                <a:ea typeface="Montserrat"/>
                <a:cs typeface="Montserrat"/>
                <a:sym typeface="Montserrat"/>
              </a:rPr>
              <a:t>Online sales generate the highest revenue,</a:t>
            </a:r>
            <a:r>
              <a:rPr lang="en-US" sz="2400" spc="-150" dirty="0">
                <a:solidFill>
                  <a:srgbClr val="FFFFFF"/>
                </a:solidFill>
                <a:latin typeface="Montserrat"/>
                <a:ea typeface="Montserrat"/>
                <a:cs typeface="Montserrat"/>
                <a:sym typeface="Montserrat"/>
              </a:rPr>
              <a:t> followed by outlet and in-store channels, reflecting a shift toward digital and value-driven purchasing behavior.</a:t>
            </a:r>
          </a:p>
        </p:txBody>
      </p:sp>
      <p:pic>
        <p:nvPicPr>
          <p:cNvPr id="35" name="Picture 34">
            <a:extLst>
              <a:ext uri="{FF2B5EF4-FFF2-40B4-BE49-F238E27FC236}">
                <a16:creationId xmlns:a16="http://schemas.microsoft.com/office/drawing/2014/main" id="{AEA18A3A-B765-9444-3593-2A871571A453}"/>
              </a:ext>
            </a:extLst>
          </p:cNvPr>
          <p:cNvPicPr>
            <a:picLocks noChangeAspect="1"/>
          </p:cNvPicPr>
          <p:nvPr/>
        </p:nvPicPr>
        <p:blipFill>
          <a:blip r:embed="rId5"/>
          <a:stretch>
            <a:fillRect/>
          </a:stretch>
        </p:blipFill>
        <p:spPr>
          <a:xfrm>
            <a:off x="15849600" y="-132443"/>
            <a:ext cx="3157135" cy="1770743"/>
          </a:xfrm>
          <a:prstGeom prst="rect">
            <a:avLst/>
          </a:prstGeom>
          <a:ln>
            <a:noFill/>
          </a:ln>
        </p:spPr>
      </p:pic>
      <p:sp>
        <p:nvSpPr>
          <p:cNvPr id="36" name="TextBox 8">
            <a:extLst>
              <a:ext uri="{FF2B5EF4-FFF2-40B4-BE49-F238E27FC236}">
                <a16:creationId xmlns:a16="http://schemas.microsoft.com/office/drawing/2014/main" id="{9569D359-2E1A-8613-F3EA-E3D7893D4D95}"/>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extLst>
      <p:ext uri="{BB962C8B-B14F-4D97-AF65-F5344CB8AC3E}">
        <p14:creationId xmlns:p14="http://schemas.microsoft.com/office/powerpoint/2010/main" val="3933352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512683B-5408-A407-3AB2-E3DC6F6EEC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7676CC5-F45F-BF6C-E32F-67960F660A7A}"/>
              </a:ext>
            </a:extLst>
          </p:cNvPr>
          <p:cNvSpPr/>
          <p:nvPr/>
        </p:nvSpPr>
        <p:spPr>
          <a:xfrm>
            <a:off x="4114800" y="3648378"/>
            <a:ext cx="1920240" cy="1920240"/>
          </a:xfrm>
          <a:custGeom>
            <a:avLst/>
            <a:gdLst/>
            <a:ahLst/>
            <a:cxnLst/>
            <a:rect l="l" t="t" r="r" b="b"/>
            <a:pathLst>
              <a:path w="3143377" h="3088368">
                <a:moveTo>
                  <a:pt x="0" y="0"/>
                </a:moveTo>
                <a:lnTo>
                  <a:pt x="3143377" y="0"/>
                </a:lnTo>
                <a:lnTo>
                  <a:pt x="3143377" y="3088368"/>
                </a:lnTo>
                <a:lnTo>
                  <a:pt x="0" y="3088368"/>
                </a:lnTo>
                <a:lnTo>
                  <a:pt x="0" y="0"/>
                </a:lnTo>
                <a:close/>
              </a:path>
            </a:pathLst>
          </a:custGeom>
          <a:blipFill>
            <a:blip r:embed="rId2"/>
            <a:stretch>
              <a:fillRect/>
            </a:stretch>
          </a:blipFill>
        </p:spPr>
        <p:txBody>
          <a:bodyPr/>
          <a:lstStyle/>
          <a:p>
            <a:endParaRPr lang="en-US"/>
          </a:p>
        </p:txBody>
      </p:sp>
      <p:sp>
        <p:nvSpPr>
          <p:cNvPr id="3" name="Freeform 3">
            <a:extLst>
              <a:ext uri="{FF2B5EF4-FFF2-40B4-BE49-F238E27FC236}">
                <a16:creationId xmlns:a16="http://schemas.microsoft.com/office/drawing/2014/main" id="{84039333-46E9-757B-A3D8-4B4359E2A12A}"/>
              </a:ext>
            </a:extLst>
          </p:cNvPr>
          <p:cNvSpPr/>
          <p:nvPr/>
        </p:nvSpPr>
        <p:spPr>
          <a:xfrm>
            <a:off x="8061960" y="3599316"/>
            <a:ext cx="1920240" cy="1920240"/>
          </a:xfrm>
          <a:custGeom>
            <a:avLst/>
            <a:gdLst/>
            <a:ahLst/>
            <a:cxnLst/>
            <a:rect l="l" t="t" r="r" b="b"/>
            <a:pathLst>
              <a:path w="2876043" h="3088368">
                <a:moveTo>
                  <a:pt x="0" y="0"/>
                </a:moveTo>
                <a:lnTo>
                  <a:pt x="2876042" y="0"/>
                </a:lnTo>
                <a:lnTo>
                  <a:pt x="2876042" y="3088368"/>
                </a:lnTo>
                <a:lnTo>
                  <a:pt x="0" y="3088368"/>
                </a:lnTo>
                <a:lnTo>
                  <a:pt x="0" y="0"/>
                </a:lnTo>
                <a:close/>
              </a:path>
            </a:pathLst>
          </a:custGeom>
          <a:blipFill>
            <a:blip r:embed="rId3"/>
            <a:stretch>
              <a:fillRect/>
            </a:stretch>
          </a:blipFill>
        </p:spPr>
        <p:txBody>
          <a:bodyPr/>
          <a:lstStyle/>
          <a:p>
            <a:endParaRPr lang="en-US"/>
          </a:p>
        </p:txBody>
      </p:sp>
      <p:sp>
        <p:nvSpPr>
          <p:cNvPr id="4" name="Freeform 4">
            <a:extLst>
              <a:ext uri="{FF2B5EF4-FFF2-40B4-BE49-F238E27FC236}">
                <a16:creationId xmlns:a16="http://schemas.microsoft.com/office/drawing/2014/main" id="{9E809F2F-9DEC-C918-F6FB-C7D45F3757AF}"/>
              </a:ext>
            </a:extLst>
          </p:cNvPr>
          <p:cNvSpPr/>
          <p:nvPr/>
        </p:nvSpPr>
        <p:spPr>
          <a:xfrm>
            <a:off x="1066800" y="3599316"/>
            <a:ext cx="1920240" cy="1920240"/>
          </a:xfrm>
          <a:custGeom>
            <a:avLst/>
            <a:gdLst/>
            <a:ahLst/>
            <a:cxnLst/>
            <a:rect l="l" t="t" r="r" b="b"/>
            <a:pathLst>
              <a:path w="3565215" h="3088368">
                <a:moveTo>
                  <a:pt x="0" y="0"/>
                </a:moveTo>
                <a:lnTo>
                  <a:pt x="3565215" y="0"/>
                </a:lnTo>
                <a:lnTo>
                  <a:pt x="3565215" y="3088368"/>
                </a:lnTo>
                <a:lnTo>
                  <a:pt x="0" y="3088368"/>
                </a:lnTo>
                <a:lnTo>
                  <a:pt x="0" y="0"/>
                </a:lnTo>
                <a:close/>
              </a:path>
            </a:pathLst>
          </a:custGeom>
          <a:blipFill>
            <a:blip r:embed="rId4">
              <a:duotone>
                <a:prstClr val="black"/>
                <a:srgbClr val="FF0000">
                  <a:tint val="45000"/>
                  <a:satMod val="400000"/>
                </a:srgbClr>
              </a:duotone>
            </a:blip>
            <a:stretch>
              <a:fillRect/>
            </a:stretch>
          </a:blipFill>
        </p:spPr>
        <p:txBody>
          <a:bodyPr/>
          <a:lstStyle/>
          <a:p>
            <a:endParaRPr lang="en-US"/>
          </a:p>
        </p:txBody>
      </p:sp>
      <p:sp>
        <p:nvSpPr>
          <p:cNvPr id="5" name="TextBox 5">
            <a:extLst>
              <a:ext uri="{FF2B5EF4-FFF2-40B4-BE49-F238E27FC236}">
                <a16:creationId xmlns:a16="http://schemas.microsoft.com/office/drawing/2014/main" id="{F23EE869-91CF-7C8F-DC7A-5AD33C3E6C3B}"/>
              </a:ext>
            </a:extLst>
          </p:cNvPr>
          <p:cNvSpPr txBox="1"/>
          <p:nvPr/>
        </p:nvSpPr>
        <p:spPr>
          <a:xfrm>
            <a:off x="2895600" y="1335912"/>
            <a:ext cx="11485266" cy="1056058"/>
          </a:xfrm>
          <a:prstGeom prst="rect">
            <a:avLst/>
          </a:prstGeom>
        </p:spPr>
        <p:txBody>
          <a:bodyPr wrap="square" lIns="0" tIns="0" rIns="0" bIns="0" rtlCol="0" anchor="t">
            <a:spAutoFit/>
          </a:bodyPr>
          <a:lstStyle/>
          <a:p>
            <a:pPr algn="ctr">
              <a:lnSpc>
                <a:spcPts val="8135"/>
              </a:lnSpc>
            </a:pPr>
            <a:r>
              <a:rPr lang="en-US" sz="7200" dirty="0">
                <a:solidFill>
                  <a:srgbClr val="FF0000"/>
                </a:solidFill>
                <a:latin typeface="Prachason Neue Expanded"/>
                <a:ea typeface="Prachason Neue Expanded"/>
                <a:cs typeface="Prachason Neue Expanded"/>
                <a:sym typeface="Prachason Neue Expanded"/>
              </a:rPr>
              <a:t>Business Implications</a:t>
            </a:r>
          </a:p>
        </p:txBody>
      </p:sp>
      <p:sp>
        <p:nvSpPr>
          <p:cNvPr id="6" name="TextBox 6">
            <a:extLst>
              <a:ext uri="{FF2B5EF4-FFF2-40B4-BE49-F238E27FC236}">
                <a16:creationId xmlns:a16="http://schemas.microsoft.com/office/drawing/2014/main" id="{051BD726-5845-BBD8-5D8D-804BD5BD8AF4}"/>
              </a:ext>
            </a:extLst>
          </p:cNvPr>
          <p:cNvSpPr txBox="1"/>
          <p:nvPr/>
        </p:nvSpPr>
        <p:spPr>
          <a:xfrm>
            <a:off x="609600" y="5905500"/>
            <a:ext cx="3070132" cy="1025922"/>
          </a:xfrm>
          <a:prstGeom prst="rect">
            <a:avLst/>
          </a:prstGeom>
        </p:spPr>
        <p:txBody>
          <a:bodyPr lIns="0" tIns="0" rIns="0" bIns="0" rtlCol="0" anchor="t">
            <a:spAutoFit/>
          </a:bodyPr>
          <a:lstStyle/>
          <a:p>
            <a:pPr algn="ctr">
              <a:lnSpc>
                <a:spcPts val="1960"/>
              </a:lnSpc>
            </a:pPr>
            <a:r>
              <a:rPr lang="en-US" sz="2000" dirty="0">
                <a:solidFill>
                  <a:srgbClr val="FFFFFF"/>
                </a:solidFill>
                <a:latin typeface="Montserrat"/>
                <a:ea typeface="Montserrat"/>
                <a:cs typeface="Montserrat"/>
                <a:sym typeface="Montserrat"/>
              </a:rPr>
              <a:t>Adidas’ profitability indicates strong cost control and pricing efficiency.</a:t>
            </a:r>
          </a:p>
        </p:txBody>
      </p:sp>
      <p:sp>
        <p:nvSpPr>
          <p:cNvPr id="7" name="TextBox 7">
            <a:extLst>
              <a:ext uri="{FF2B5EF4-FFF2-40B4-BE49-F238E27FC236}">
                <a16:creationId xmlns:a16="http://schemas.microsoft.com/office/drawing/2014/main" id="{98DE70D2-E43E-DCD3-B680-A369A1F9F8AE}"/>
              </a:ext>
            </a:extLst>
          </p:cNvPr>
          <p:cNvSpPr txBox="1"/>
          <p:nvPr/>
        </p:nvSpPr>
        <p:spPr>
          <a:xfrm>
            <a:off x="3940268" y="5905500"/>
            <a:ext cx="3070132" cy="1025922"/>
          </a:xfrm>
          <a:prstGeom prst="rect">
            <a:avLst/>
          </a:prstGeom>
        </p:spPr>
        <p:txBody>
          <a:bodyPr lIns="0" tIns="0" rIns="0" bIns="0" rtlCol="0" anchor="t">
            <a:spAutoFit/>
          </a:bodyPr>
          <a:lstStyle/>
          <a:p>
            <a:pPr algn="ctr">
              <a:lnSpc>
                <a:spcPts val="1960"/>
              </a:lnSpc>
            </a:pPr>
            <a:r>
              <a:rPr lang="en-US" sz="2000" dirty="0">
                <a:solidFill>
                  <a:srgbClr val="FFFFFF"/>
                </a:solidFill>
                <a:latin typeface="Montserrat"/>
                <a:ea typeface="Montserrat"/>
                <a:cs typeface="Montserrat"/>
                <a:sym typeface="Montserrat"/>
              </a:rPr>
              <a:t>Regional imbalances suggest that a one-size-fits-all strategy is ineffective.</a:t>
            </a:r>
          </a:p>
        </p:txBody>
      </p:sp>
      <p:sp>
        <p:nvSpPr>
          <p:cNvPr id="8" name="TextBox 8">
            <a:extLst>
              <a:ext uri="{FF2B5EF4-FFF2-40B4-BE49-F238E27FC236}">
                <a16:creationId xmlns:a16="http://schemas.microsoft.com/office/drawing/2014/main" id="{EE0A8F55-5C75-3BBA-84C0-445C835E6CD1}"/>
              </a:ext>
            </a:extLst>
          </p:cNvPr>
          <p:cNvSpPr txBox="1"/>
          <p:nvPr/>
        </p:nvSpPr>
        <p:spPr>
          <a:xfrm>
            <a:off x="7597868" y="5905500"/>
            <a:ext cx="3070132" cy="1025922"/>
          </a:xfrm>
          <a:prstGeom prst="rect">
            <a:avLst/>
          </a:prstGeom>
        </p:spPr>
        <p:txBody>
          <a:bodyPr lIns="0" tIns="0" rIns="0" bIns="0" rtlCol="0" anchor="t">
            <a:spAutoFit/>
          </a:bodyPr>
          <a:lstStyle/>
          <a:p>
            <a:pPr algn="ctr">
              <a:lnSpc>
                <a:spcPts val="1960"/>
              </a:lnSpc>
            </a:pPr>
            <a:r>
              <a:rPr lang="en-US" sz="2000" dirty="0">
                <a:solidFill>
                  <a:srgbClr val="FFFFFF"/>
                </a:solidFill>
                <a:latin typeface="Montserrat"/>
                <a:ea typeface="Montserrat"/>
                <a:cs typeface="Montserrat"/>
                <a:sym typeface="Montserrat"/>
              </a:rPr>
              <a:t>Retailer concentration increases dependency risk on top-performing partners.</a:t>
            </a:r>
          </a:p>
        </p:txBody>
      </p:sp>
      <p:sp>
        <p:nvSpPr>
          <p:cNvPr id="9" name="TextBox 9">
            <a:extLst>
              <a:ext uri="{FF2B5EF4-FFF2-40B4-BE49-F238E27FC236}">
                <a16:creationId xmlns:a16="http://schemas.microsoft.com/office/drawing/2014/main" id="{CB7444D1-DE2C-A107-8772-88BADBCDBAAE}"/>
              </a:ext>
            </a:extLst>
          </p:cNvPr>
          <p:cNvSpPr txBox="1"/>
          <p:nvPr/>
        </p:nvSpPr>
        <p:spPr>
          <a:xfrm>
            <a:off x="12318370" y="990600"/>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sp>
        <p:nvSpPr>
          <p:cNvPr id="10" name="Freeform 10">
            <a:extLst>
              <a:ext uri="{FF2B5EF4-FFF2-40B4-BE49-F238E27FC236}">
                <a16:creationId xmlns:a16="http://schemas.microsoft.com/office/drawing/2014/main" id="{567F0F0E-66B6-FBC5-6CA9-46D377C95486}"/>
              </a:ext>
            </a:extLst>
          </p:cNvPr>
          <p:cNvSpPr/>
          <p:nvPr/>
        </p:nvSpPr>
        <p:spPr>
          <a:xfrm>
            <a:off x="-4712981" y="5192562"/>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a:extLst>
              <a:ext uri="{FF2B5EF4-FFF2-40B4-BE49-F238E27FC236}">
                <a16:creationId xmlns:a16="http://schemas.microsoft.com/office/drawing/2014/main" id="{AADBED1A-33BD-5EA0-2A8F-AB54A49019D7}"/>
              </a:ext>
            </a:extLst>
          </p:cNvPr>
          <p:cNvSpPr/>
          <p:nvPr/>
        </p:nvSpPr>
        <p:spPr>
          <a:xfrm>
            <a:off x="16022050" y="1147890"/>
            <a:ext cx="7309077" cy="7309077"/>
          </a:xfrm>
          <a:custGeom>
            <a:avLst/>
            <a:gdLst/>
            <a:ahLst/>
            <a:cxnLst/>
            <a:rect l="l" t="t" r="r" b="b"/>
            <a:pathLst>
              <a:path w="7309077" h="7309077">
                <a:moveTo>
                  <a:pt x="0" y="0"/>
                </a:moveTo>
                <a:lnTo>
                  <a:pt x="7309076" y="0"/>
                </a:lnTo>
                <a:lnTo>
                  <a:pt x="7309076" y="7309076"/>
                </a:lnTo>
                <a:lnTo>
                  <a:pt x="0" y="73090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TextBox 8">
            <a:extLst>
              <a:ext uri="{FF2B5EF4-FFF2-40B4-BE49-F238E27FC236}">
                <a16:creationId xmlns:a16="http://schemas.microsoft.com/office/drawing/2014/main" id="{08A42BAC-E1F1-2F99-1B2B-621D53EDDB92}"/>
              </a:ext>
            </a:extLst>
          </p:cNvPr>
          <p:cNvSpPr txBox="1"/>
          <p:nvPr/>
        </p:nvSpPr>
        <p:spPr>
          <a:xfrm>
            <a:off x="11049000" y="5905500"/>
            <a:ext cx="3070132" cy="1282402"/>
          </a:xfrm>
          <a:prstGeom prst="rect">
            <a:avLst/>
          </a:prstGeom>
        </p:spPr>
        <p:txBody>
          <a:bodyPr lIns="0" tIns="0" rIns="0" bIns="0" rtlCol="0" anchor="t">
            <a:spAutoFit/>
          </a:bodyPr>
          <a:lstStyle/>
          <a:p>
            <a:pPr algn="ctr">
              <a:lnSpc>
                <a:spcPts val="1960"/>
              </a:lnSpc>
            </a:pPr>
            <a:r>
              <a:rPr lang="en-US" sz="2000" dirty="0">
                <a:solidFill>
                  <a:srgbClr val="FFFFFF"/>
                </a:solidFill>
                <a:latin typeface="Montserrat"/>
                <a:ea typeface="Montserrat"/>
                <a:cs typeface="Montserrat"/>
                <a:sym typeface="Montserrat"/>
              </a:rPr>
              <a:t>Growth in online sales reflects a need to prioritize digital commerce investments.</a:t>
            </a:r>
          </a:p>
        </p:txBody>
      </p:sp>
      <p:sp>
        <p:nvSpPr>
          <p:cNvPr id="15" name="TextBox 8">
            <a:extLst>
              <a:ext uri="{FF2B5EF4-FFF2-40B4-BE49-F238E27FC236}">
                <a16:creationId xmlns:a16="http://schemas.microsoft.com/office/drawing/2014/main" id="{9A1D81DD-5F9A-F4C3-749F-32F6A05C172B}"/>
              </a:ext>
            </a:extLst>
          </p:cNvPr>
          <p:cNvSpPr txBox="1"/>
          <p:nvPr/>
        </p:nvSpPr>
        <p:spPr>
          <a:xfrm>
            <a:off x="14379668" y="5905500"/>
            <a:ext cx="3070132" cy="1282402"/>
          </a:xfrm>
          <a:prstGeom prst="rect">
            <a:avLst/>
          </a:prstGeom>
        </p:spPr>
        <p:txBody>
          <a:bodyPr lIns="0" tIns="0" rIns="0" bIns="0" rtlCol="0" anchor="t">
            <a:spAutoFit/>
          </a:bodyPr>
          <a:lstStyle/>
          <a:p>
            <a:pPr algn="ctr">
              <a:lnSpc>
                <a:spcPts val="1960"/>
              </a:lnSpc>
            </a:pPr>
            <a:r>
              <a:rPr lang="en-US" sz="2000" dirty="0">
                <a:solidFill>
                  <a:srgbClr val="FFFFFF"/>
                </a:solidFill>
                <a:latin typeface="Montserrat"/>
                <a:ea typeface="Montserrat"/>
                <a:cs typeface="Montserrat"/>
                <a:sym typeface="Montserrat"/>
              </a:rPr>
              <a:t>Underperforming regions may lead to inefficient inventory allocation if unaddressed.</a:t>
            </a:r>
          </a:p>
        </p:txBody>
      </p:sp>
      <p:sp>
        <p:nvSpPr>
          <p:cNvPr id="16" name="Freeform 2">
            <a:extLst>
              <a:ext uri="{FF2B5EF4-FFF2-40B4-BE49-F238E27FC236}">
                <a16:creationId xmlns:a16="http://schemas.microsoft.com/office/drawing/2014/main" id="{CB6C1A98-C4A2-EE3F-63C4-18BA4C2E4464}"/>
              </a:ext>
            </a:extLst>
          </p:cNvPr>
          <p:cNvSpPr/>
          <p:nvPr/>
        </p:nvSpPr>
        <p:spPr>
          <a:xfrm>
            <a:off x="4134490" y="3637416"/>
            <a:ext cx="1920240" cy="1920240"/>
          </a:xfrm>
          <a:custGeom>
            <a:avLst/>
            <a:gdLst/>
            <a:ahLst/>
            <a:cxnLst/>
            <a:rect l="l" t="t" r="r" b="b"/>
            <a:pathLst>
              <a:path w="3143377" h="3088368">
                <a:moveTo>
                  <a:pt x="0" y="0"/>
                </a:moveTo>
                <a:lnTo>
                  <a:pt x="3143377" y="0"/>
                </a:lnTo>
                <a:lnTo>
                  <a:pt x="3143377" y="3088368"/>
                </a:lnTo>
                <a:lnTo>
                  <a:pt x="0" y="3088368"/>
                </a:lnTo>
                <a:lnTo>
                  <a:pt x="0" y="0"/>
                </a:lnTo>
                <a:close/>
              </a:path>
            </a:pathLst>
          </a:custGeom>
          <a:blipFill>
            <a:blip r:embed="rId2">
              <a:duotone>
                <a:prstClr val="black"/>
                <a:srgbClr val="FF0000">
                  <a:tint val="45000"/>
                  <a:satMod val="400000"/>
                </a:srgbClr>
              </a:duotone>
            </a:blip>
            <a:stretch>
              <a:fillRect/>
            </a:stretch>
          </a:blipFill>
        </p:spPr>
        <p:txBody>
          <a:bodyPr/>
          <a:lstStyle/>
          <a:p>
            <a:endParaRPr lang="en-US"/>
          </a:p>
        </p:txBody>
      </p:sp>
      <p:sp>
        <p:nvSpPr>
          <p:cNvPr id="18" name="Freeform 3">
            <a:extLst>
              <a:ext uri="{FF2B5EF4-FFF2-40B4-BE49-F238E27FC236}">
                <a16:creationId xmlns:a16="http://schemas.microsoft.com/office/drawing/2014/main" id="{356F77B9-B895-1561-26E5-C154E7CBA576}"/>
              </a:ext>
            </a:extLst>
          </p:cNvPr>
          <p:cNvSpPr/>
          <p:nvPr/>
        </p:nvSpPr>
        <p:spPr>
          <a:xfrm>
            <a:off x="8081650" y="3588354"/>
            <a:ext cx="1920240" cy="1920240"/>
          </a:xfrm>
          <a:custGeom>
            <a:avLst/>
            <a:gdLst/>
            <a:ahLst/>
            <a:cxnLst/>
            <a:rect l="l" t="t" r="r" b="b"/>
            <a:pathLst>
              <a:path w="2876043" h="3088368">
                <a:moveTo>
                  <a:pt x="0" y="0"/>
                </a:moveTo>
                <a:lnTo>
                  <a:pt x="2876042" y="0"/>
                </a:lnTo>
                <a:lnTo>
                  <a:pt x="2876042" y="3088368"/>
                </a:lnTo>
                <a:lnTo>
                  <a:pt x="0" y="3088368"/>
                </a:lnTo>
                <a:lnTo>
                  <a:pt x="0" y="0"/>
                </a:lnTo>
                <a:close/>
              </a:path>
            </a:pathLst>
          </a:custGeom>
          <a:blipFill>
            <a:blip r:embed="rId3">
              <a:duotone>
                <a:prstClr val="black"/>
                <a:srgbClr val="FF0000">
                  <a:tint val="45000"/>
                  <a:satMod val="400000"/>
                </a:srgbClr>
              </a:duotone>
            </a:blip>
            <a:stretch>
              <a:fillRect/>
            </a:stretch>
          </a:blipFill>
        </p:spPr>
        <p:txBody>
          <a:bodyPr/>
          <a:lstStyle/>
          <a:p>
            <a:endParaRPr lang="en-US"/>
          </a:p>
        </p:txBody>
      </p:sp>
      <p:pic>
        <p:nvPicPr>
          <p:cNvPr id="20" name="Picture 19">
            <a:extLst>
              <a:ext uri="{FF2B5EF4-FFF2-40B4-BE49-F238E27FC236}">
                <a16:creationId xmlns:a16="http://schemas.microsoft.com/office/drawing/2014/main" id="{289A53DF-85E4-1FB2-B5AD-79195281BB7C}"/>
              </a:ext>
            </a:extLst>
          </p:cNvPr>
          <p:cNvPicPr>
            <a:picLocks noChangeAspect="1"/>
          </p:cNvPicPr>
          <p:nvPr/>
        </p:nvPicPr>
        <p:blipFill>
          <a:blip r:embed="rId7"/>
          <a:stretch>
            <a:fillRect/>
          </a:stretch>
        </p:blipFill>
        <p:spPr>
          <a:xfrm>
            <a:off x="-324152" y="0"/>
            <a:ext cx="3157135" cy="1770743"/>
          </a:xfrm>
          <a:prstGeom prst="rect">
            <a:avLst/>
          </a:prstGeom>
          <a:ln>
            <a:noFill/>
          </a:ln>
        </p:spPr>
      </p:pic>
      <p:sp>
        <p:nvSpPr>
          <p:cNvPr id="21" name="TextBox 8">
            <a:extLst>
              <a:ext uri="{FF2B5EF4-FFF2-40B4-BE49-F238E27FC236}">
                <a16:creationId xmlns:a16="http://schemas.microsoft.com/office/drawing/2014/main" id="{2090D6B6-8523-E152-AF9A-F0B5C9B6EF0E}"/>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
        <p:nvSpPr>
          <p:cNvPr id="22" name="Freeform 3">
            <a:extLst>
              <a:ext uri="{FF2B5EF4-FFF2-40B4-BE49-F238E27FC236}">
                <a16:creationId xmlns:a16="http://schemas.microsoft.com/office/drawing/2014/main" id="{E2F7C2DB-8A41-1CBA-2E1B-B0DB9902A471}"/>
              </a:ext>
            </a:extLst>
          </p:cNvPr>
          <p:cNvSpPr/>
          <p:nvPr/>
        </p:nvSpPr>
        <p:spPr>
          <a:xfrm>
            <a:off x="14843760" y="3588354"/>
            <a:ext cx="1920240" cy="1920240"/>
          </a:xfrm>
          <a:custGeom>
            <a:avLst/>
            <a:gdLst/>
            <a:ahLst/>
            <a:cxnLst/>
            <a:rect l="l" t="t" r="r" b="b"/>
            <a:pathLst>
              <a:path w="1930230" h="3088368">
                <a:moveTo>
                  <a:pt x="0" y="0"/>
                </a:moveTo>
                <a:lnTo>
                  <a:pt x="1930230" y="0"/>
                </a:lnTo>
                <a:lnTo>
                  <a:pt x="1930230" y="3088368"/>
                </a:lnTo>
                <a:lnTo>
                  <a:pt x="0" y="3088368"/>
                </a:lnTo>
                <a:lnTo>
                  <a:pt x="0" y="0"/>
                </a:lnTo>
                <a:close/>
              </a:path>
            </a:pathLst>
          </a:custGeom>
          <a:blipFill>
            <a:blip r:embed="rId8">
              <a:duotone>
                <a:prstClr val="black"/>
                <a:srgbClr val="FF0000">
                  <a:tint val="45000"/>
                  <a:satMod val="400000"/>
                </a:srgbClr>
              </a:duotone>
            </a:blip>
            <a:stretch>
              <a:fillRect/>
            </a:stretch>
          </a:blipFill>
        </p:spPr>
        <p:txBody>
          <a:bodyPr/>
          <a:lstStyle/>
          <a:p>
            <a:endParaRPr lang="en-US"/>
          </a:p>
        </p:txBody>
      </p:sp>
      <p:sp>
        <p:nvSpPr>
          <p:cNvPr id="23" name="Freeform 4">
            <a:extLst>
              <a:ext uri="{FF2B5EF4-FFF2-40B4-BE49-F238E27FC236}">
                <a16:creationId xmlns:a16="http://schemas.microsoft.com/office/drawing/2014/main" id="{E8582B0B-2EC5-EC11-5B92-650E22772987}"/>
              </a:ext>
            </a:extLst>
          </p:cNvPr>
          <p:cNvSpPr/>
          <p:nvPr/>
        </p:nvSpPr>
        <p:spPr>
          <a:xfrm>
            <a:off x="11567160" y="3599316"/>
            <a:ext cx="1920240" cy="1920240"/>
          </a:xfrm>
          <a:custGeom>
            <a:avLst/>
            <a:gdLst/>
            <a:ahLst/>
            <a:cxnLst/>
            <a:rect l="l" t="t" r="r" b="b"/>
            <a:pathLst>
              <a:path w="2810415" h="3088368">
                <a:moveTo>
                  <a:pt x="0" y="0"/>
                </a:moveTo>
                <a:lnTo>
                  <a:pt x="2810415" y="0"/>
                </a:lnTo>
                <a:lnTo>
                  <a:pt x="2810415" y="3088368"/>
                </a:lnTo>
                <a:lnTo>
                  <a:pt x="0" y="3088368"/>
                </a:lnTo>
                <a:lnTo>
                  <a:pt x="0" y="0"/>
                </a:lnTo>
                <a:close/>
              </a:path>
            </a:pathLst>
          </a:custGeom>
          <a:blipFill>
            <a:blip r:embed="rId9">
              <a:duotone>
                <a:prstClr val="black"/>
                <a:srgbClr val="FF0000">
                  <a:tint val="45000"/>
                  <a:satMod val="400000"/>
                </a:srgbClr>
              </a:duotone>
            </a:blip>
            <a:stretch>
              <a:fillRect/>
            </a:stretch>
          </a:blipFill>
        </p:spPr>
        <p:txBody>
          <a:bodyPr/>
          <a:lstStyle/>
          <a:p>
            <a:endParaRPr lang="en-US"/>
          </a:p>
        </p:txBody>
      </p:sp>
    </p:spTree>
    <p:extLst>
      <p:ext uri="{BB962C8B-B14F-4D97-AF65-F5344CB8AC3E}">
        <p14:creationId xmlns:p14="http://schemas.microsoft.com/office/powerpoint/2010/main" val="420178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B277ADC-0A50-89E8-5FC3-C981DFEA07E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E7B4ED6-182E-C49B-D2F6-659DE7F9C599}"/>
              </a:ext>
            </a:extLst>
          </p:cNvPr>
          <p:cNvSpPr txBox="1"/>
          <p:nvPr/>
        </p:nvSpPr>
        <p:spPr>
          <a:xfrm>
            <a:off x="8229601" y="3992495"/>
            <a:ext cx="8432118" cy="2274982"/>
          </a:xfrm>
          <a:prstGeom prst="rect">
            <a:avLst/>
          </a:prstGeom>
        </p:spPr>
        <p:txBody>
          <a:bodyPr wrap="square" lIns="0" tIns="0" rIns="0" bIns="0" rtlCol="0" anchor="t">
            <a:spAutoFit/>
          </a:bodyPr>
          <a:lstStyle/>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Prioritize footwear innovation and expansion, especially in high-performing regions.</a:t>
            </a:r>
          </a:p>
          <a:p>
            <a:pPr marL="457200" indent="-457200" algn="just">
              <a:lnSpc>
                <a:spcPts val="3625"/>
              </a:lnSpc>
              <a:buFont typeface="Arial" panose="020B0604020202020204" pitchFamily="34" charset="0"/>
              <a:buChar char="•"/>
            </a:pPr>
            <a:endParaRPr lang="en-US" sz="2589"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Reposition or redesign underperforming apparel lines to better suit regional preferences.</a:t>
            </a:r>
          </a:p>
        </p:txBody>
      </p:sp>
      <p:sp>
        <p:nvSpPr>
          <p:cNvPr id="3" name="TextBox 3">
            <a:extLst>
              <a:ext uri="{FF2B5EF4-FFF2-40B4-BE49-F238E27FC236}">
                <a16:creationId xmlns:a16="http://schemas.microsoft.com/office/drawing/2014/main" id="{1EF6F337-0067-9979-71A4-64A6F979717C}"/>
              </a:ext>
            </a:extLst>
          </p:cNvPr>
          <p:cNvSpPr txBox="1"/>
          <p:nvPr/>
        </p:nvSpPr>
        <p:spPr>
          <a:xfrm>
            <a:off x="1295400" y="1244219"/>
            <a:ext cx="10515600" cy="1056058"/>
          </a:xfrm>
          <a:prstGeom prst="rect">
            <a:avLst/>
          </a:prstGeom>
        </p:spPr>
        <p:txBody>
          <a:bodyPr wrap="square" lIns="0" tIns="0" rIns="0" bIns="0" rtlCol="0" anchor="t">
            <a:spAutoFit/>
          </a:bodyPr>
          <a:lstStyle/>
          <a:p>
            <a:pPr algn="l">
              <a:lnSpc>
                <a:spcPts val="8136"/>
              </a:lnSpc>
            </a:pPr>
            <a:r>
              <a:rPr lang="en-US" sz="7200" b="1" dirty="0">
                <a:solidFill>
                  <a:srgbClr val="FFFFFF"/>
                </a:solidFill>
                <a:latin typeface="Prachason Neue Expanded Bold"/>
                <a:ea typeface="Prachason Neue Expanded Bold"/>
                <a:cs typeface="Prachason Neue Expanded Bold"/>
                <a:sym typeface="Prachason Neue Expanded Bold"/>
              </a:rPr>
              <a:t>Recommendations</a:t>
            </a:r>
          </a:p>
        </p:txBody>
      </p:sp>
      <p:sp>
        <p:nvSpPr>
          <p:cNvPr id="4" name="Freeform 4">
            <a:extLst>
              <a:ext uri="{FF2B5EF4-FFF2-40B4-BE49-F238E27FC236}">
                <a16:creationId xmlns:a16="http://schemas.microsoft.com/office/drawing/2014/main" id="{9E0F21C7-9BC2-AE46-A71E-8430BBE49F0F}"/>
              </a:ext>
            </a:extLst>
          </p:cNvPr>
          <p:cNvSpPr/>
          <p:nvPr/>
        </p:nvSpPr>
        <p:spPr>
          <a:xfrm rot="-1767601" flipH="1">
            <a:off x="-4467248" y="4187808"/>
            <a:ext cx="12131969" cy="9205131"/>
          </a:xfrm>
          <a:custGeom>
            <a:avLst/>
            <a:gdLst/>
            <a:ahLst/>
            <a:cxnLst/>
            <a:rect l="l" t="t" r="r" b="b"/>
            <a:pathLst>
              <a:path w="12131969" h="9205131">
                <a:moveTo>
                  <a:pt x="12131969" y="0"/>
                </a:moveTo>
                <a:lnTo>
                  <a:pt x="0" y="0"/>
                </a:lnTo>
                <a:lnTo>
                  <a:pt x="0" y="9205131"/>
                </a:lnTo>
                <a:lnTo>
                  <a:pt x="12131969" y="9205131"/>
                </a:lnTo>
                <a:lnTo>
                  <a:pt x="12131969" y="0"/>
                </a:lnTo>
                <a:close/>
              </a:path>
            </a:pathLst>
          </a:custGeom>
          <a:blipFill>
            <a:blip r:embed="rId2"/>
            <a:stretch>
              <a:fillRect/>
            </a:stretch>
          </a:blipFill>
        </p:spPr>
        <p:txBody>
          <a:bodyPr/>
          <a:lstStyle/>
          <a:p>
            <a:endParaRPr lang="en-US"/>
          </a:p>
        </p:txBody>
      </p:sp>
      <p:sp>
        <p:nvSpPr>
          <p:cNvPr id="5" name="TextBox 5">
            <a:extLst>
              <a:ext uri="{FF2B5EF4-FFF2-40B4-BE49-F238E27FC236}">
                <a16:creationId xmlns:a16="http://schemas.microsoft.com/office/drawing/2014/main" id="{9A759098-779B-A00C-FF41-B3779D5981AD}"/>
              </a:ext>
            </a:extLst>
          </p:cNvPr>
          <p:cNvSpPr txBox="1"/>
          <p:nvPr/>
        </p:nvSpPr>
        <p:spPr>
          <a:xfrm>
            <a:off x="12318370" y="990600"/>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sp>
        <p:nvSpPr>
          <p:cNvPr id="6" name="Freeform 6">
            <a:extLst>
              <a:ext uri="{FF2B5EF4-FFF2-40B4-BE49-F238E27FC236}">
                <a16:creationId xmlns:a16="http://schemas.microsoft.com/office/drawing/2014/main" id="{9DDE1215-C395-1982-728B-36B1D4AF638B}"/>
              </a:ext>
            </a:extLst>
          </p:cNvPr>
          <p:cNvSpPr/>
          <p:nvPr/>
        </p:nvSpPr>
        <p:spPr>
          <a:xfrm>
            <a:off x="-2913850" y="-3934448"/>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3">
            <a:extLst>
              <a:ext uri="{FF2B5EF4-FFF2-40B4-BE49-F238E27FC236}">
                <a16:creationId xmlns:a16="http://schemas.microsoft.com/office/drawing/2014/main" id="{70698BC3-5C0A-9BA7-DBFF-D837D966E902}"/>
              </a:ext>
            </a:extLst>
          </p:cNvPr>
          <p:cNvSpPr txBox="1"/>
          <p:nvPr/>
        </p:nvSpPr>
        <p:spPr>
          <a:xfrm>
            <a:off x="1295400" y="2271052"/>
            <a:ext cx="10515600" cy="963725"/>
          </a:xfrm>
          <a:prstGeom prst="rect">
            <a:avLst/>
          </a:prstGeom>
        </p:spPr>
        <p:txBody>
          <a:bodyPr wrap="square" lIns="0" tIns="0" rIns="0" bIns="0" rtlCol="0" anchor="t">
            <a:spAutoFit/>
          </a:bodyPr>
          <a:lstStyle/>
          <a:p>
            <a:pPr algn="l">
              <a:lnSpc>
                <a:spcPts val="8136"/>
              </a:lnSpc>
            </a:pPr>
            <a:r>
              <a:rPr lang="en-US" sz="4800" b="1" dirty="0">
                <a:solidFill>
                  <a:srgbClr val="FFFFFF"/>
                </a:solidFill>
                <a:latin typeface="Prachason Neue Expanded Bold"/>
                <a:ea typeface="Prachason Neue Expanded Bold"/>
                <a:cs typeface="Prachason Neue Expanded Bold"/>
                <a:sym typeface="Prachason Neue Expanded Bold"/>
              </a:rPr>
              <a:t>Product Strategy</a:t>
            </a:r>
          </a:p>
        </p:txBody>
      </p:sp>
      <p:pic>
        <p:nvPicPr>
          <p:cNvPr id="8" name="Picture 7">
            <a:extLst>
              <a:ext uri="{FF2B5EF4-FFF2-40B4-BE49-F238E27FC236}">
                <a16:creationId xmlns:a16="http://schemas.microsoft.com/office/drawing/2014/main" id="{F05D7B51-8C5F-AB3C-0C12-9AD6027E9307}"/>
              </a:ext>
            </a:extLst>
          </p:cNvPr>
          <p:cNvPicPr>
            <a:picLocks noChangeAspect="1"/>
          </p:cNvPicPr>
          <p:nvPr/>
        </p:nvPicPr>
        <p:blipFill>
          <a:blip r:embed="rId5"/>
          <a:stretch>
            <a:fillRect/>
          </a:stretch>
        </p:blipFill>
        <p:spPr>
          <a:xfrm>
            <a:off x="-324152" y="0"/>
            <a:ext cx="3157135" cy="1770743"/>
          </a:xfrm>
          <a:prstGeom prst="rect">
            <a:avLst/>
          </a:prstGeom>
          <a:ln>
            <a:noFill/>
          </a:ln>
        </p:spPr>
      </p:pic>
      <p:sp>
        <p:nvSpPr>
          <p:cNvPr id="9" name="TextBox 8">
            <a:extLst>
              <a:ext uri="{FF2B5EF4-FFF2-40B4-BE49-F238E27FC236}">
                <a16:creationId xmlns:a16="http://schemas.microsoft.com/office/drawing/2014/main" id="{5B953043-198B-108E-00DC-A6FF0CEAEB8C}"/>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extLst>
      <p:ext uri="{BB962C8B-B14F-4D97-AF65-F5344CB8AC3E}">
        <p14:creationId xmlns:p14="http://schemas.microsoft.com/office/powerpoint/2010/main" val="127574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D07CB2D-0247-30C0-5F56-3E00CF86D4A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571CC2B-585F-D2E4-E55C-21A8072C1D92}"/>
              </a:ext>
            </a:extLst>
          </p:cNvPr>
          <p:cNvSpPr txBox="1"/>
          <p:nvPr/>
        </p:nvSpPr>
        <p:spPr>
          <a:xfrm>
            <a:off x="7162801" y="3992495"/>
            <a:ext cx="9498918" cy="3659976"/>
          </a:xfrm>
          <a:prstGeom prst="rect">
            <a:avLst/>
          </a:prstGeom>
        </p:spPr>
        <p:txBody>
          <a:bodyPr wrap="square" lIns="0" tIns="0" rIns="0" bIns="0" rtlCol="0" anchor="t">
            <a:spAutoFit/>
          </a:bodyPr>
          <a:lstStyle/>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Increase investment in online platforms, including targeted digital marketing and promotions.</a:t>
            </a:r>
          </a:p>
          <a:p>
            <a:pPr marL="457200" indent="-457200" algn="just">
              <a:lnSpc>
                <a:spcPts val="3625"/>
              </a:lnSpc>
              <a:buFont typeface="Arial" panose="020B0604020202020204" pitchFamily="34" charset="0"/>
              <a:buChar char="•"/>
            </a:pPr>
            <a:endParaRPr lang="en-US" sz="2589"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Optimize outlet pricing strategies to clear inventory without eroding margins.</a:t>
            </a:r>
          </a:p>
          <a:p>
            <a:pPr marL="457200" indent="-457200" algn="just">
              <a:lnSpc>
                <a:spcPts val="3625"/>
              </a:lnSpc>
              <a:buFont typeface="Arial" panose="020B0604020202020204" pitchFamily="34" charset="0"/>
              <a:buChar char="•"/>
            </a:pPr>
            <a:endParaRPr lang="en-US" sz="2589"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Enhance in-store experiences to remain competitive with online channels.</a:t>
            </a:r>
          </a:p>
        </p:txBody>
      </p:sp>
      <p:sp>
        <p:nvSpPr>
          <p:cNvPr id="4" name="Freeform 4">
            <a:extLst>
              <a:ext uri="{FF2B5EF4-FFF2-40B4-BE49-F238E27FC236}">
                <a16:creationId xmlns:a16="http://schemas.microsoft.com/office/drawing/2014/main" id="{AC9B7CAF-7E69-14E1-D377-32BB90A6C828}"/>
              </a:ext>
            </a:extLst>
          </p:cNvPr>
          <p:cNvSpPr/>
          <p:nvPr/>
        </p:nvSpPr>
        <p:spPr>
          <a:xfrm rot="-1767601" flipH="1">
            <a:off x="-4467248" y="4187808"/>
            <a:ext cx="12131969" cy="9205131"/>
          </a:xfrm>
          <a:custGeom>
            <a:avLst/>
            <a:gdLst/>
            <a:ahLst/>
            <a:cxnLst/>
            <a:rect l="l" t="t" r="r" b="b"/>
            <a:pathLst>
              <a:path w="12131969" h="9205131">
                <a:moveTo>
                  <a:pt x="12131969" y="0"/>
                </a:moveTo>
                <a:lnTo>
                  <a:pt x="0" y="0"/>
                </a:lnTo>
                <a:lnTo>
                  <a:pt x="0" y="9205131"/>
                </a:lnTo>
                <a:lnTo>
                  <a:pt x="12131969" y="9205131"/>
                </a:lnTo>
                <a:lnTo>
                  <a:pt x="12131969" y="0"/>
                </a:lnTo>
                <a:close/>
              </a:path>
            </a:pathLst>
          </a:custGeom>
          <a:blipFill>
            <a:blip r:embed="rId2"/>
            <a:stretch>
              <a:fillRect/>
            </a:stretch>
          </a:blipFill>
        </p:spPr>
        <p:txBody>
          <a:bodyPr/>
          <a:lstStyle/>
          <a:p>
            <a:endParaRPr lang="en-US"/>
          </a:p>
        </p:txBody>
      </p:sp>
      <p:sp>
        <p:nvSpPr>
          <p:cNvPr id="5" name="TextBox 5">
            <a:extLst>
              <a:ext uri="{FF2B5EF4-FFF2-40B4-BE49-F238E27FC236}">
                <a16:creationId xmlns:a16="http://schemas.microsoft.com/office/drawing/2014/main" id="{6142798E-46AC-49C1-DCD3-C522D8891746}"/>
              </a:ext>
            </a:extLst>
          </p:cNvPr>
          <p:cNvSpPr txBox="1"/>
          <p:nvPr/>
        </p:nvSpPr>
        <p:spPr>
          <a:xfrm>
            <a:off x="12318370" y="990600"/>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sp>
        <p:nvSpPr>
          <p:cNvPr id="6" name="Freeform 6">
            <a:extLst>
              <a:ext uri="{FF2B5EF4-FFF2-40B4-BE49-F238E27FC236}">
                <a16:creationId xmlns:a16="http://schemas.microsoft.com/office/drawing/2014/main" id="{B3B40DB8-C5F2-F1DF-8B35-6EDEB4DFAB49}"/>
              </a:ext>
            </a:extLst>
          </p:cNvPr>
          <p:cNvSpPr/>
          <p:nvPr/>
        </p:nvSpPr>
        <p:spPr>
          <a:xfrm>
            <a:off x="-2913850" y="-3934448"/>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3">
            <a:extLst>
              <a:ext uri="{FF2B5EF4-FFF2-40B4-BE49-F238E27FC236}">
                <a16:creationId xmlns:a16="http://schemas.microsoft.com/office/drawing/2014/main" id="{56B3B1B6-349E-054A-443D-9626A2DD596B}"/>
              </a:ext>
            </a:extLst>
          </p:cNvPr>
          <p:cNvSpPr txBox="1"/>
          <p:nvPr/>
        </p:nvSpPr>
        <p:spPr>
          <a:xfrm>
            <a:off x="1295400" y="2271052"/>
            <a:ext cx="10515600" cy="963725"/>
          </a:xfrm>
          <a:prstGeom prst="rect">
            <a:avLst/>
          </a:prstGeom>
        </p:spPr>
        <p:txBody>
          <a:bodyPr wrap="square" lIns="0" tIns="0" rIns="0" bIns="0" rtlCol="0" anchor="t">
            <a:spAutoFit/>
          </a:bodyPr>
          <a:lstStyle/>
          <a:p>
            <a:pPr algn="l">
              <a:lnSpc>
                <a:spcPts val="8136"/>
              </a:lnSpc>
            </a:pPr>
            <a:r>
              <a:rPr lang="en-US" sz="4800" b="1" dirty="0">
                <a:solidFill>
                  <a:srgbClr val="FFFFFF"/>
                </a:solidFill>
                <a:latin typeface="Prachason Neue Expanded Bold"/>
                <a:ea typeface="Prachason Neue Expanded Bold"/>
                <a:cs typeface="Prachason Neue Expanded Bold"/>
                <a:sym typeface="Prachason Neue Expanded Bold"/>
              </a:rPr>
              <a:t>Channel Optimization</a:t>
            </a:r>
          </a:p>
        </p:txBody>
      </p:sp>
      <p:pic>
        <p:nvPicPr>
          <p:cNvPr id="8" name="Picture 7">
            <a:extLst>
              <a:ext uri="{FF2B5EF4-FFF2-40B4-BE49-F238E27FC236}">
                <a16:creationId xmlns:a16="http://schemas.microsoft.com/office/drawing/2014/main" id="{F7271328-BDD5-29A8-4F26-8825CA3AC4A1}"/>
              </a:ext>
            </a:extLst>
          </p:cNvPr>
          <p:cNvPicPr>
            <a:picLocks noChangeAspect="1"/>
          </p:cNvPicPr>
          <p:nvPr/>
        </p:nvPicPr>
        <p:blipFill>
          <a:blip r:embed="rId5"/>
          <a:stretch>
            <a:fillRect/>
          </a:stretch>
        </p:blipFill>
        <p:spPr>
          <a:xfrm>
            <a:off x="-324152" y="-38100"/>
            <a:ext cx="3157135" cy="1770743"/>
          </a:xfrm>
          <a:prstGeom prst="rect">
            <a:avLst/>
          </a:prstGeom>
          <a:ln>
            <a:noFill/>
          </a:ln>
        </p:spPr>
      </p:pic>
      <p:sp>
        <p:nvSpPr>
          <p:cNvPr id="9" name="TextBox 8">
            <a:extLst>
              <a:ext uri="{FF2B5EF4-FFF2-40B4-BE49-F238E27FC236}">
                <a16:creationId xmlns:a16="http://schemas.microsoft.com/office/drawing/2014/main" id="{BD7E9216-7126-F208-7206-829228741850}"/>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extLst>
      <p:ext uri="{BB962C8B-B14F-4D97-AF65-F5344CB8AC3E}">
        <p14:creationId xmlns:p14="http://schemas.microsoft.com/office/powerpoint/2010/main" val="2820080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EFA9652-F3A3-3A61-3EB6-0DBFFC30BF2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06FE9D9-B4EF-D876-422A-6DBB4C9C7657}"/>
              </a:ext>
            </a:extLst>
          </p:cNvPr>
          <p:cNvSpPr txBox="1"/>
          <p:nvPr/>
        </p:nvSpPr>
        <p:spPr>
          <a:xfrm>
            <a:off x="6705600" y="3992495"/>
            <a:ext cx="9956119" cy="2274982"/>
          </a:xfrm>
          <a:prstGeom prst="rect">
            <a:avLst/>
          </a:prstGeom>
        </p:spPr>
        <p:txBody>
          <a:bodyPr wrap="square" lIns="0" tIns="0" rIns="0" bIns="0" rtlCol="0" anchor="t">
            <a:spAutoFit/>
          </a:bodyPr>
          <a:lstStyle/>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Expand marketing efforts and inventory allocation in the West and Northeast.</a:t>
            </a:r>
          </a:p>
          <a:p>
            <a:pPr marL="457200" indent="-457200" algn="just">
              <a:lnSpc>
                <a:spcPts val="3625"/>
              </a:lnSpc>
              <a:buFont typeface="Arial" panose="020B0604020202020204" pitchFamily="34" charset="0"/>
              <a:buChar char="•"/>
            </a:pPr>
            <a:endParaRPr lang="en-US" sz="2589"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Introduce localized promotions and pricing strategies in Midwest and Southeast regions.</a:t>
            </a:r>
          </a:p>
        </p:txBody>
      </p:sp>
      <p:sp>
        <p:nvSpPr>
          <p:cNvPr id="4" name="Freeform 4">
            <a:extLst>
              <a:ext uri="{FF2B5EF4-FFF2-40B4-BE49-F238E27FC236}">
                <a16:creationId xmlns:a16="http://schemas.microsoft.com/office/drawing/2014/main" id="{A550E6B0-CEB8-EB8E-D926-0D7A94F1612B}"/>
              </a:ext>
            </a:extLst>
          </p:cNvPr>
          <p:cNvSpPr/>
          <p:nvPr/>
        </p:nvSpPr>
        <p:spPr>
          <a:xfrm rot="-1767601" flipH="1">
            <a:off x="-4467248" y="4187808"/>
            <a:ext cx="12131969" cy="9205131"/>
          </a:xfrm>
          <a:custGeom>
            <a:avLst/>
            <a:gdLst/>
            <a:ahLst/>
            <a:cxnLst/>
            <a:rect l="l" t="t" r="r" b="b"/>
            <a:pathLst>
              <a:path w="12131969" h="9205131">
                <a:moveTo>
                  <a:pt x="12131969" y="0"/>
                </a:moveTo>
                <a:lnTo>
                  <a:pt x="0" y="0"/>
                </a:lnTo>
                <a:lnTo>
                  <a:pt x="0" y="9205131"/>
                </a:lnTo>
                <a:lnTo>
                  <a:pt x="12131969" y="9205131"/>
                </a:lnTo>
                <a:lnTo>
                  <a:pt x="12131969" y="0"/>
                </a:lnTo>
                <a:close/>
              </a:path>
            </a:pathLst>
          </a:custGeom>
          <a:blipFill>
            <a:blip r:embed="rId2"/>
            <a:stretch>
              <a:fillRect/>
            </a:stretch>
          </a:blipFill>
        </p:spPr>
        <p:txBody>
          <a:bodyPr/>
          <a:lstStyle/>
          <a:p>
            <a:endParaRPr lang="en-US"/>
          </a:p>
        </p:txBody>
      </p:sp>
      <p:sp>
        <p:nvSpPr>
          <p:cNvPr id="5" name="TextBox 5">
            <a:extLst>
              <a:ext uri="{FF2B5EF4-FFF2-40B4-BE49-F238E27FC236}">
                <a16:creationId xmlns:a16="http://schemas.microsoft.com/office/drawing/2014/main" id="{8CDB2647-E197-9DC8-2FE8-54087B7DE691}"/>
              </a:ext>
            </a:extLst>
          </p:cNvPr>
          <p:cNvSpPr txBox="1"/>
          <p:nvPr/>
        </p:nvSpPr>
        <p:spPr>
          <a:xfrm>
            <a:off x="12318370" y="990600"/>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sp>
        <p:nvSpPr>
          <p:cNvPr id="6" name="Freeform 6">
            <a:extLst>
              <a:ext uri="{FF2B5EF4-FFF2-40B4-BE49-F238E27FC236}">
                <a16:creationId xmlns:a16="http://schemas.microsoft.com/office/drawing/2014/main" id="{5CECCF6A-D0FF-FAC9-AF60-EACC992370C8}"/>
              </a:ext>
            </a:extLst>
          </p:cNvPr>
          <p:cNvSpPr/>
          <p:nvPr/>
        </p:nvSpPr>
        <p:spPr>
          <a:xfrm>
            <a:off x="-2913850" y="-3934448"/>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3">
            <a:extLst>
              <a:ext uri="{FF2B5EF4-FFF2-40B4-BE49-F238E27FC236}">
                <a16:creationId xmlns:a16="http://schemas.microsoft.com/office/drawing/2014/main" id="{5B2A1BA1-0BF1-0730-0420-B8D7F1557B55}"/>
              </a:ext>
            </a:extLst>
          </p:cNvPr>
          <p:cNvSpPr txBox="1"/>
          <p:nvPr/>
        </p:nvSpPr>
        <p:spPr>
          <a:xfrm>
            <a:off x="1295400" y="2271052"/>
            <a:ext cx="10515600" cy="963725"/>
          </a:xfrm>
          <a:prstGeom prst="rect">
            <a:avLst/>
          </a:prstGeom>
        </p:spPr>
        <p:txBody>
          <a:bodyPr wrap="square" lIns="0" tIns="0" rIns="0" bIns="0" rtlCol="0" anchor="t">
            <a:spAutoFit/>
          </a:bodyPr>
          <a:lstStyle/>
          <a:p>
            <a:pPr algn="l">
              <a:lnSpc>
                <a:spcPts val="8136"/>
              </a:lnSpc>
            </a:pPr>
            <a:r>
              <a:rPr lang="en-US" sz="4800" b="1" dirty="0">
                <a:solidFill>
                  <a:srgbClr val="FFFFFF"/>
                </a:solidFill>
                <a:latin typeface="Prachason Neue Expanded Bold"/>
                <a:ea typeface="Prachason Neue Expanded Bold"/>
                <a:cs typeface="Prachason Neue Expanded Bold"/>
                <a:sym typeface="Prachason Neue Expanded Bold"/>
              </a:rPr>
              <a:t>Regional Focus</a:t>
            </a:r>
          </a:p>
        </p:txBody>
      </p:sp>
      <p:pic>
        <p:nvPicPr>
          <p:cNvPr id="3" name="Picture 2">
            <a:extLst>
              <a:ext uri="{FF2B5EF4-FFF2-40B4-BE49-F238E27FC236}">
                <a16:creationId xmlns:a16="http://schemas.microsoft.com/office/drawing/2014/main" id="{A9DBEE41-2343-F945-9F15-C77F0F6B85B8}"/>
              </a:ext>
            </a:extLst>
          </p:cNvPr>
          <p:cNvPicPr>
            <a:picLocks noChangeAspect="1"/>
          </p:cNvPicPr>
          <p:nvPr/>
        </p:nvPicPr>
        <p:blipFill>
          <a:blip r:embed="rId5"/>
          <a:stretch>
            <a:fillRect/>
          </a:stretch>
        </p:blipFill>
        <p:spPr>
          <a:xfrm>
            <a:off x="-324152" y="0"/>
            <a:ext cx="3157135" cy="1770743"/>
          </a:xfrm>
          <a:prstGeom prst="rect">
            <a:avLst/>
          </a:prstGeom>
          <a:ln>
            <a:noFill/>
          </a:ln>
        </p:spPr>
      </p:pic>
      <p:sp>
        <p:nvSpPr>
          <p:cNvPr id="8" name="TextBox 8">
            <a:extLst>
              <a:ext uri="{FF2B5EF4-FFF2-40B4-BE49-F238E27FC236}">
                <a16:creationId xmlns:a16="http://schemas.microsoft.com/office/drawing/2014/main" id="{2D9ABF33-31B6-F5B9-5458-B3DAB5942197}"/>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extLst>
      <p:ext uri="{BB962C8B-B14F-4D97-AF65-F5344CB8AC3E}">
        <p14:creationId xmlns:p14="http://schemas.microsoft.com/office/powerpoint/2010/main" val="1310146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306A4B9-009C-CD51-0410-279EF1B3D74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845BA6D-0D15-EACF-41EF-A867F5FF3CB3}"/>
              </a:ext>
            </a:extLst>
          </p:cNvPr>
          <p:cNvSpPr txBox="1"/>
          <p:nvPr/>
        </p:nvSpPr>
        <p:spPr>
          <a:xfrm>
            <a:off x="8001000" y="3992495"/>
            <a:ext cx="8660719" cy="2736647"/>
          </a:xfrm>
          <a:prstGeom prst="rect">
            <a:avLst/>
          </a:prstGeom>
        </p:spPr>
        <p:txBody>
          <a:bodyPr wrap="square" lIns="0" tIns="0" rIns="0" bIns="0" rtlCol="0" anchor="t">
            <a:spAutoFit/>
          </a:bodyPr>
          <a:lstStyle/>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Strengthen partnerships with West Gear and Foot Locker through exclusive launches or incentives.</a:t>
            </a:r>
          </a:p>
          <a:p>
            <a:pPr marL="457200" indent="-457200" algn="just">
              <a:lnSpc>
                <a:spcPts val="3625"/>
              </a:lnSpc>
              <a:buFont typeface="Arial" panose="020B0604020202020204" pitchFamily="34" charset="0"/>
              <a:buChar char="•"/>
            </a:pPr>
            <a:endParaRPr lang="en-US" sz="2589"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Reassess strategies with Walmart and Amazon to improve visibility and sales performance.</a:t>
            </a:r>
          </a:p>
        </p:txBody>
      </p:sp>
      <p:sp>
        <p:nvSpPr>
          <p:cNvPr id="4" name="Freeform 4">
            <a:extLst>
              <a:ext uri="{FF2B5EF4-FFF2-40B4-BE49-F238E27FC236}">
                <a16:creationId xmlns:a16="http://schemas.microsoft.com/office/drawing/2014/main" id="{74D40FCB-E092-8A43-D1C1-ED25160528AE}"/>
              </a:ext>
            </a:extLst>
          </p:cNvPr>
          <p:cNvSpPr/>
          <p:nvPr/>
        </p:nvSpPr>
        <p:spPr>
          <a:xfrm rot="-1767601" flipH="1">
            <a:off x="-4467248" y="4187808"/>
            <a:ext cx="12131969" cy="9205131"/>
          </a:xfrm>
          <a:custGeom>
            <a:avLst/>
            <a:gdLst/>
            <a:ahLst/>
            <a:cxnLst/>
            <a:rect l="l" t="t" r="r" b="b"/>
            <a:pathLst>
              <a:path w="12131969" h="9205131">
                <a:moveTo>
                  <a:pt x="12131969" y="0"/>
                </a:moveTo>
                <a:lnTo>
                  <a:pt x="0" y="0"/>
                </a:lnTo>
                <a:lnTo>
                  <a:pt x="0" y="9205131"/>
                </a:lnTo>
                <a:lnTo>
                  <a:pt x="12131969" y="9205131"/>
                </a:lnTo>
                <a:lnTo>
                  <a:pt x="12131969" y="0"/>
                </a:lnTo>
                <a:close/>
              </a:path>
            </a:pathLst>
          </a:custGeom>
          <a:blipFill>
            <a:blip r:embed="rId2"/>
            <a:stretch>
              <a:fillRect/>
            </a:stretch>
          </a:blipFill>
        </p:spPr>
        <p:txBody>
          <a:bodyPr/>
          <a:lstStyle/>
          <a:p>
            <a:endParaRPr lang="en-US"/>
          </a:p>
        </p:txBody>
      </p:sp>
      <p:sp>
        <p:nvSpPr>
          <p:cNvPr id="5" name="TextBox 5">
            <a:extLst>
              <a:ext uri="{FF2B5EF4-FFF2-40B4-BE49-F238E27FC236}">
                <a16:creationId xmlns:a16="http://schemas.microsoft.com/office/drawing/2014/main" id="{81281162-E12B-8560-3CB0-3CB85C217F06}"/>
              </a:ext>
            </a:extLst>
          </p:cNvPr>
          <p:cNvSpPr txBox="1"/>
          <p:nvPr/>
        </p:nvSpPr>
        <p:spPr>
          <a:xfrm>
            <a:off x="12318370" y="990600"/>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sp>
        <p:nvSpPr>
          <p:cNvPr id="6" name="Freeform 6">
            <a:extLst>
              <a:ext uri="{FF2B5EF4-FFF2-40B4-BE49-F238E27FC236}">
                <a16:creationId xmlns:a16="http://schemas.microsoft.com/office/drawing/2014/main" id="{B3AC755E-85A9-AD52-7FB0-A09B2CC6776C}"/>
              </a:ext>
            </a:extLst>
          </p:cNvPr>
          <p:cNvSpPr/>
          <p:nvPr/>
        </p:nvSpPr>
        <p:spPr>
          <a:xfrm>
            <a:off x="-2913850" y="-3934448"/>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3">
            <a:extLst>
              <a:ext uri="{FF2B5EF4-FFF2-40B4-BE49-F238E27FC236}">
                <a16:creationId xmlns:a16="http://schemas.microsoft.com/office/drawing/2014/main" id="{B0A3FAD1-B5BE-1EB6-E35B-1D3926608509}"/>
              </a:ext>
            </a:extLst>
          </p:cNvPr>
          <p:cNvSpPr txBox="1"/>
          <p:nvPr/>
        </p:nvSpPr>
        <p:spPr>
          <a:xfrm>
            <a:off x="1295400" y="2271052"/>
            <a:ext cx="13030200" cy="963725"/>
          </a:xfrm>
          <a:prstGeom prst="rect">
            <a:avLst/>
          </a:prstGeom>
        </p:spPr>
        <p:txBody>
          <a:bodyPr wrap="square" lIns="0" tIns="0" rIns="0" bIns="0" rtlCol="0" anchor="t">
            <a:spAutoFit/>
          </a:bodyPr>
          <a:lstStyle/>
          <a:p>
            <a:pPr algn="l">
              <a:lnSpc>
                <a:spcPts val="8136"/>
              </a:lnSpc>
            </a:pPr>
            <a:r>
              <a:rPr lang="en-US" sz="4800" b="1" dirty="0">
                <a:solidFill>
                  <a:srgbClr val="FFFFFF"/>
                </a:solidFill>
                <a:latin typeface="Prachason Neue Expanded Bold"/>
                <a:ea typeface="Prachason Neue Expanded Bold"/>
                <a:cs typeface="Prachason Neue Expanded Bold"/>
                <a:sym typeface="Prachason Neue Expanded Bold"/>
              </a:rPr>
              <a:t>Retailer &amp; Partner Management</a:t>
            </a:r>
          </a:p>
        </p:txBody>
      </p:sp>
      <p:pic>
        <p:nvPicPr>
          <p:cNvPr id="3" name="Picture 2">
            <a:extLst>
              <a:ext uri="{FF2B5EF4-FFF2-40B4-BE49-F238E27FC236}">
                <a16:creationId xmlns:a16="http://schemas.microsoft.com/office/drawing/2014/main" id="{9F1D948D-F2BF-CB47-3A9D-BD0B3DE95D93}"/>
              </a:ext>
            </a:extLst>
          </p:cNvPr>
          <p:cNvPicPr>
            <a:picLocks noChangeAspect="1"/>
          </p:cNvPicPr>
          <p:nvPr/>
        </p:nvPicPr>
        <p:blipFill>
          <a:blip r:embed="rId5"/>
          <a:stretch>
            <a:fillRect/>
          </a:stretch>
        </p:blipFill>
        <p:spPr>
          <a:xfrm>
            <a:off x="-324152" y="0"/>
            <a:ext cx="3157135" cy="1770743"/>
          </a:xfrm>
          <a:prstGeom prst="rect">
            <a:avLst/>
          </a:prstGeom>
          <a:ln>
            <a:noFill/>
          </a:ln>
        </p:spPr>
      </p:pic>
      <p:sp>
        <p:nvSpPr>
          <p:cNvPr id="8" name="TextBox 8">
            <a:extLst>
              <a:ext uri="{FF2B5EF4-FFF2-40B4-BE49-F238E27FC236}">
                <a16:creationId xmlns:a16="http://schemas.microsoft.com/office/drawing/2014/main" id="{D7713665-CC41-D72E-15DD-65A54791B208}"/>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extLst>
      <p:ext uri="{BB962C8B-B14F-4D97-AF65-F5344CB8AC3E}">
        <p14:creationId xmlns:p14="http://schemas.microsoft.com/office/powerpoint/2010/main" val="2067855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BC7846E-6D85-5F3D-DC18-8766CD9F435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DA1A36B-1AC1-8204-E1D5-12B2DCF7E598}"/>
              </a:ext>
            </a:extLst>
          </p:cNvPr>
          <p:cNvSpPr txBox="1"/>
          <p:nvPr/>
        </p:nvSpPr>
        <p:spPr>
          <a:xfrm>
            <a:off x="7315201" y="3992495"/>
            <a:ext cx="9346518" cy="4121641"/>
          </a:xfrm>
          <a:prstGeom prst="rect">
            <a:avLst/>
          </a:prstGeom>
        </p:spPr>
        <p:txBody>
          <a:bodyPr wrap="square" lIns="0" tIns="0" rIns="0" bIns="0" rtlCol="0" anchor="t">
            <a:spAutoFit/>
          </a:bodyPr>
          <a:lstStyle/>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Use historical monthly sales trends to improve seasonal demand forecasting and inventory planning.</a:t>
            </a:r>
          </a:p>
          <a:p>
            <a:pPr algn="just">
              <a:lnSpc>
                <a:spcPts val="3625"/>
              </a:lnSpc>
            </a:pPr>
            <a:endParaRPr lang="en-US" sz="2589"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Anticipate higher demand during peak months and ensure adequate stock levels to prevent lost sales.</a:t>
            </a:r>
          </a:p>
          <a:p>
            <a:pPr marL="457200" indent="-457200" algn="just">
              <a:lnSpc>
                <a:spcPts val="3625"/>
              </a:lnSpc>
              <a:buFont typeface="Arial" panose="020B0604020202020204" pitchFamily="34" charset="0"/>
              <a:buChar char="•"/>
            </a:pPr>
            <a:endParaRPr lang="en-US" sz="2589" dirty="0">
              <a:solidFill>
                <a:srgbClr val="FFFFFF"/>
              </a:solidFill>
              <a:latin typeface="Montserrat"/>
              <a:ea typeface="Montserrat"/>
              <a:cs typeface="Montserrat"/>
              <a:sym typeface="Montserrat"/>
            </a:endParaRPr>
          </a:p>
          <a:p>
            <a:pPr marL="457200" indent="-457200" algn="just">
              <a:lnSpc>
                <a:spcPts val="3625"/>
              </a:lnSpc>
              <a:buFont typeface="Arial" panose="020B0604020202020204" pitchFamily="34" charset="0"/>
              <a:buChar char="•"/>
            </a:pPr>
            <a:r>
              <a:rPr lang="en-US" sz="2589" dirty="0">
                <a:solidFill>
                  <a:srgbClr val="FFFFFF"/>
                </a:solidFill>
                <a:latin typeface="Montserrat"/>
                <a:ea typeface="Montserrat"/>
                <a:cs typeface="Montserrat"/>
                <a:sym typeface="Montserrat"/>
              </a:rPr>
              <a:t>Reduce excess inventory during low-demand periods by aligning production and supply chain planning with forecasted demand.</a:t>
            </a:r>
          </a:p>
        </p:txBody>
      </p:sp>
      <p:sp>
        <p:nvSpPr>
          <p:cNvPr id="4" name="Freeform 4">
            <a:extLst>
              <a:ext uri="{FF2B5EF4-FFF2-40B4-BE49-F238E27FC236}">
                <a16:creationId xmlns:a16="http://schemas.microsoft.com/office/drawing/2014/main" id="{D8E930C1-BF15-CAA5-577B-E0B9E51DF938}"/>
              </a:ext>
            </a:extLst>
          </p:cNvPr>
          <p:cNvSpPr/>
          <p:nvPr/>
        </p:nvSpPr>
        <p:spPr>
          <a:xfrm rot="-1767601" flipH="1">
            <a:off x="-4467248" y="4187808"/>
            <a:ext cx="12131969" cy="9205131"/>
          </a:xfrm>
          <a:custGeom>
            <a:avLst/>
            <a:gdLst/>
            <a:ahLst/>
            <a:cxnLst/>
            <a:rect l="l" t="t" r="r" b="b"/>
            <a:pathLst>
              <a:path w="12131969" h="9205131">
                <a:moveTo>
                  <a:pt x="12131969" y="0"/>
                </a:moveTo>
                <a:lnTo>
                  <a:pt x="0" y="0"/>
                </a:lnTo>
                <a:lnTo>
                  <a:pt x="0" y="9205131"/>
                </a:lnTo>
                <a:lnTo>
                  <a:pt x="12131969" y="9205131"/>
                </a:lnTo>
                <a:lnTo>
                  <a:pt x="12131969" y="0"/>
                </a:lnTo>
                <a:close/>
              </a:path>
            </a:pathLst>
          </a:custGeom>
          <a:blipFill>
            <a:blip r:embed="rId2"/>
            <a:stretch>
              <a:fillRect/>
            </a:stretch>
          </a:blipFill>
        </p:spPr>
        <p:txBody>
          <a:bodyPr/>
          <a:lstStyle/>
          <a:p>
            <a:endParaRPr lang="en-US"/>
          </a:p>
        </p:txBody>
      </p:sp>
      <p:sp>
        <p:nvSpPr>
          <p:cNvPr id="5" name="TextBox 5">
            <a:extLst>
              <a:ext uri="{FF2B5EF4-FFF2-40B4-BE49-F238E27FC236}">
                <a16:creationId xmlns:a16="http://schemas.microsoft.com/office/drawing/2014/main" id="{C4E41749-109F-85EF-4590-5048907DA32F}"/>
              </a:ext>
            </a:extLst>
          </p:cNvPr>
          <p:cNvSpPr txBox="1"/>
          <p:nvPr/>
        </p:nvSpPr>
        <p:spPr>
          <a:xfrm>
            <a:off x="12318370" y="990600"/>
            <a:ext cx="4940930" cy="281487"/>
          </a:xfrm>
          <a:prstGeom prst="rect">
            <a:avLst/>
          </a:prstGeom>
        </p:spPr>
        <p:txBody>
          <a:bodyPr lIns="0" tIns="0" rIns="0" bIns="0" rtlCol="0" anchor="t">
            <a:spAutoFit/>
          </a:bodyPr>
          <a:lstStyle/>
          <a:p>
            <a:pPr algn="r">
              <a:lnSpc>
                <a:spcPts val="2367"/>
              </a:lnSpc>
            </a:pPr>
            <a:r>
              <a:rPr lang="en-US" sz="1599" spc="371" dirty="0">
                <a:solidFill>
                  <a:srgbClr val="FFFFFF"/>
                </a:solidFill>
                <a:latin typeface="Montserrat"/>
                <a:ea typeface="Montserrat"/>
                <a:cs typeface="Montserrat"/>
                <a:sym typeface="Montserrat"/>
              </a:rPr>
              <a:t>Group 10</a:t>
            </a:r>
          </a:p>
        </p:txBody>
      </p:sp>
      <p:sp>
        <p:nvSpPr>
          <p:cNvPr id="6" name="Freeform 6">
            <a:extLst>
              <a:ext uri="{FF2B5EF4-FFF2-40B4-BE49-F238E27FC236}">
                <a16:creationId xmlns:a16="http://schemas.microsoft.com/office/drawing/2014/main" id="{B34DC201-8582-D51B-452F-326A0394C05A}"/>
              </a:ext>
            </a:extLst>
          </p:cNvPr>
          <p:cNvSpPr/>
          <p:nvPr/>
        </p:nvSpPr>
        <p:spPr>
          <a:xfrm>
            <a:off x="-2913850" y="-3934448"/>
            <a:ext cx="7309077" cy="7309077"/>
          </a:xfrm>
          <a:custGeom>
            <a:avLst/>
            <a:gdLst/>
            <a:ahLst/>
            <a:cxnLst/>
            <a:rect l="l" t="t" r="r" b="b"/>
            <a:pathLst>
              <a:path w="7309077" h="7309077">
                <a:moveTo>
                  <a:pt x="0" y="0"/>
                </a:moveTo>
                <a:lnTo>
                  <a:pt x="7309076" y="0"/>
                </a:lnTo>
                <a:lnTo>
                  <a:pt x="7309076" y="7309077"/>
                </a:lnTo>
                <a:lnTo>
                  <a:pt x="0" y="73090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3">
            <a:extLst>
              <a:ext uri="{FF2B5EF4-FFF2-40B4-BE49-F238E27FC236}">
                <a16:creationId xmlns:a16="http://schemas.microsoft.com/office/drawing/2014/main" id="{78F94C46-6BA3-C718-FECB-2E3611E7521E}"/>
              </a:ext>
            </a:extLst>
          </p:cNvPr>
          <p:cNvSpPr txBox="1"/>
          <p:nvPr/>
        </p:nvSpPr>
        <p:spPr>
          <a:xfrm>
            <a:off x="1295400" y="2271052"/>
            <a:ext cx="13030200" cy="963725"/>
          </a:xfrm>
          <a:prstGeom prst="rect">
            <a:avLst/>
          </a:prstGeom>
        </p:spPr>
        <p:txBody>
          <a:bodyPr wrap="square" lIns="0" tIns="0" rIns="0" bIns="0" rtlCol="0" anchor="t">
            <a:spAutoFit/>
          </a:bodyPr>
          <a:lstStyle/>
          <a:p>
            <a:pPr algn="l">
              <a:lnSpc>
                <a:spcPts val="8136"/>
              </a:lnSpc>
            </a:pPr>
            <a:r>
              <a:rPr lang="en-US" sz="4800" b="1" dirty="0">
                <a:solidFill>
                  <a:srgbClr val="FFFFFF"/>
                </a:solidFill>
                <a:latin typeface="Prachason Neue Expanded Bold"/>
                <a:ea typeface="Prachason Neue Expanded Bold"/>
                <a:cs typeface="Prachason Neue Expanded Bold"/>
                <a:sym typeface="Prachason Neue Expanded Bold"/>
              </a:rPr>
              <a:t>Demand Forecasting</a:t>
            </a:r>
          </a:p>
        </p:txBody>
      </p:sp>
      <p:pic>
        <p:nvPicPr>
          <p:cNvPr id="3" name="Picture 2">
            <a:extLst>
              <a:ext uri="{FF2B5EF4-FFF2-40B4-BE49-F238E27FC236}">
                <a16:creationId xmlns:a16="http://schemas.microsoft.com/office/drawing/2014/main" id="{FFB66138-D365-A51C-26F9-04B4F21C5C9A}"/>
              </a:ext>
            </a:extLst>
          </p:cNvPr>
          <p:cNvPicPr>
            <a:picLocks noChangeAspect="1"/>
          </p:cNvPicPr>
          <p:nvPr/>
        </p:nvPicPr>
        <p:blipFill>
          <a:blip r:embed="rId5"/>
          <a:stretch>
            <a:fillRect/>
          </a:stretch>
        </p:blipFill>
        <p:spPr>
          <a:xfrm>
            <a:off x="-324152" y="0"/>
            <a:ext cx="3157135" cy="1770743"/>
          </a:xfrm>
          <a:prstGeom prst="rect">
            <a:avLst/>
          </a:prstGeom>
          <a:ln>
            <a:noFill/>
          </a:ln>
        </p:spPr>
      </p:pic>
      <p:sp>
        <p:nvSpPr>
          <p:cNvPr id="8" name="TextBox 8">
            <a:extLst>
              <a:ext uri="{FF2B5EF4-FFF2-40B4-BE49-F238E27FC236}">
                <a16:creationId xmlns:a16="http://schemas.microsoft.com/office/drawing/2014/main" id="{6FC6D075-E5F3-C92C-AB3F-22C21464E387}"/>
              </a:ext>
            </a:extLst>
          </p:cNvPr>
          <p:cNvSpPr txBox="1"/>
          <p:nvPr/>
        </p:nvSpPr>
        <p:spPr>
          <a:xfrm>
            <a:off x="6934200" y="9815013"/>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extLst>
      <p:ext uri="{BB962C8B-B14F-4D97-AF65-F5344CB8AC3E}">
        <p14:creationId xmlns:p14="http://schemas.microsoft.com/office/powerpoint/2010/main" val="1656070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486400" y="4230162"/>
            <a:ext cx="9754938" cy="3179588"/>
          </a:xfrm>
          <a:prstGeom prst="rect">
            <a:avLst/>
          </a:prstGeom>
        </p:spPr>
        <p:txBody>
          <a:bodyPr wrap="square" lIns="0" tIns="0" rIns="0" bIns="0" rtlCol="0" anchor="t">
            <a:spAutoFit/>
          </a:bodyPr>
          <a:lstStyle/>
          <a:p>
            <a:pPr algn="just">
              <a:lnSpc>
                <a:spcPct val="150000"/>
              </a:lnSpc>
            </a:pPr>
            <a:r>
              <a:rPr lang="en-US" sz="2000" dirty="0">
                <a:solidFill>
                  <a:srgbClr val="FFFFFF"/>
                </a:solidFill>
                <a:latin typeface="Montserrat"/>
                <a:ea typeface="Montserrat"/>
                <a:cs typeface="Montserrat"/>
                <a:sym typeface="Montserrat"/>
              </a:rPr>
              <a:t>This analysis demonstrates that Adidas is performing strongly overall, driven primarily by footwear sales, high-margin operations, and a growing online presence. However, performance varies significantly across regions, product lines, and retail partners. By leveraging these insights to refine product strategies, optimize sales channels, and adopt region-specific approaches, Adidas can improve operational efficiency, maximize profitability, and strengthen its competitive position in the market.</a:t>
            </a:r>
          </a:p>
        </p:txBody>
      </p:sp>
      <p:sp>
        <p:nvSpPr>
          <p:cNvPr id="3" name="Freeform 3"/>
          <p:cNvSpPr/>
          <p:nvPr/>
        </p:nvSpPr>
        <p:spPr>
          <a:xfrm>
            <a:off x="-647015" y="5307574"/>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4262330">
            <a:off x="-710525" y="3978473"/>
            <a:ext cx="7694676" cy="8229600"/>
          </a:xfrm>
          <a:custGeom>
            <a:avLst/>
            <a:gdLst/>
            <a:ahLst/>
            <a:cxnLst/>
            <a:rect l="l" t="t" r="r" b="b"/>
            <a:pathLst>
              <a:path w="7694676" h="8229600">
                <a:moveTo>
                  <a:pt x="0" y="0"/>
                </a:moveTo>
                <a:lnTo>
                  <a:pt x="7694676" y="0"/>
                </a:lnTo>
                <a:lnTo>
                  <a:pt x="7694676" y="8229600"/>
                </a:lnTo>
                <a:lnTo>
                  <a:pt x="0" y="8229600"/>
                </a:lnTo>
                <a:lnTo>
                  <a:pt x="0" y="0"/>
                </a:lnTo>
                <a:close/>
              </a:path>
            </a:pathLst>
          </a:custGeom>
          <a:blipFill>
            <a:blip r:embed="rId4"/>
            <a:stretch>
              <a:fillRect/>
            </a:stretch>
          </a:blipFill>
        </p:spPr>
        <p:txBody>
          <a:bodyPr/>
          <a:lstStyle/>
          <a:p>
            <a:endParaRPr lang="en-US"/>
          </a:p>
        </p:txBody>
      </p:sp>
      <p:sp>
        <p:nvSpPr>
          <p:cNvPr id="5" name="Freeform 5"/>
          <p:cNvSpPr/>
          <p:nvPr/>
        </p:nvSpPr>
        <p:spPr>
          <a:xfrm>
            <a:off x="15740058" y="1028700"/>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2401554" flipH="1">
            <a:off x="14720272" y="-2339153"/>
            <a:ext cx="8376183" cy="8229600"/>
          </a:xfrm>
          <a:custGeom>
            <a:avLst/>
            <a:gdLst/>
            <a:ahLst/>
            <a:cxnLst/>
            <a:rect l="l" t="t" r="r" b="b"/>
            <a:pathLst>
              <a:path w="8376183" h="8229600">
                <a:moveTo>
                  <a:pt x="8376184" y="0"/>
                </a:moveTo>
                <a:lnTo>
                  <a:pt x="0" y="0"/>
                </a:lnTo>
                <a:lnTo>
                  <a:pt x="0" y="8229600"/>
                </a:lnTo>
                <a:lnTo>
                  <a:pt x="8376184" y="8229600"/>
                </a:lnTo>
                <a:lnTo>
                  <a:pt x="8376184" y="0"/>
                </a:lnTo>
                <a:close/>
              </a:path>
            </a:pathLst>
          </a:custGeom>
          <a:blipFill>
            <a:blip r:embed="rId5"/>
            <a:stretch>
              <a:fillRect/>
            </a:stretch>
          </a:blipFill>
        </p:spPr>
        <p:txBody>
          <a:bodyPr/>
          <a:lstStyle/>
          <a:p>
            <a:endParaRPr lang="en-US"/>
          </a:p>
        </p:txBody>
      </p:sp>
      <p:sp>
        <p:nvSpPr>
          <p:cNvPr id="7" name="TextBox 5">
            <a:extLst>
              <a:ext uri="{FF2B5EF4-FFF2-40B4-BE49-F238E27FC236}">
                <a16:creationId xmlns:a16="http://schemas.microsoft.com/office/drawing/2014/main" id="{7C73D86A-BD4F-2CF9-45E5-42331F8EA0C4}"/>
              </a:ext>
            </a:extLst>
          </p:cNvPr>
          <p:cNvSpPr txBox="1"/>
          <p:nvPr/>
        </p:nvSpPr>
        <p:spPr>
          <a:xfrm>
            <a:off x="1828800" y="1693572"/>
            <a:ext cx="10473732" cy="1056058"/>
          </a:xfrm>
          <a:prstGeom prst="rect">
            <a:avLst/>
          </a:prstGeom>
        </p:spPr>
        <p:txBody>
          <a:bodyPr lIns="0" tIns="0" rIns="0" bIns="0" rtlCol="0" anchor="t">
            <a:spAutoFit/>
          </a:bodyPr>
          <a:lstStyle/>
          <a:p>
            <a:pPr algn="ctr">
              <a:lnSpc>
                <a:spcPts val="8135"/>
              </a:lnSpc>
            </a:pPr>
            <a:r>
              <a:rPr lang="en-US" sz="7200" dirty="0">
                <a:solidFill>
                  <a:srgbClr val="FFFFFF"/>
                </a:solidFill>
                <a:latin typeface="Prachason Neue Expanded"/>
                <a:ea typeface="Prachason Neue Expanded"/>
                <a:cs typeface="Prachason Neue Expanded"/>
                <a:sym typeface="Prachason Neue Expanded"/>
              </a:rPr>
              <a:t>Conclusion</a:t>
            </a:r>
          </a:p>
        </p:txBody>
      </p:sp>
      <p:pic>
        <p:nvPicPr>
          <p:cNvPr id="8" name="Picture 7">
            <a:extLst>
              <a:ext uri="{FF2B5EF4-FFF2-40B4-BE49-F238E27FC236}">
                <a16:creationId xmlns:a16="http://schemas.microsoft.com/office/drawing/2014/main" id="{E8FA90AF-15BE-3DC7-A805-372F0C22CD26}"/>
              </a:ext>
            </a:extLst>
          </p:cNvPr>
          <p:cNvPicPr>
            <a:picLocks noChangeAspect="1"/>
          </p:cNvPicPr>
          <p:nvPr/>
        </p:nvPicPr>
        <p:blipFill>
          <a:blip r:embed="rId6"/>
          <a:stretch>
            <a:fillRect/>
          </a:stretch>
        </p:blipFill>
        <p:spPr>
          <a:xfrm>
            <a:off x="-324152" y="0"/>
            <a:ext cx="3157135" cy="1770743"/>
          </a:xfrm>
          <a:prstGeom prst="rect">
            <a:avLst/>
          </a:prstGeom>
          <a:ln>
            <a:noFill/>
          </a:ln>
        </p:spPr>
      </p:pic>
      <p:sp>
        <p:nvSpPr>
          <p:cNvPr id="9" name="TextBox 8">
            <a:extLst>
              <a:ext uri="{FF2B5EF4-FFF2-40B4-BE49-F238E27FC236}">
                <a16:creationId xmlns:a16="http://schemas.microsoft.com/office/drawing/2014/main" id="{76A5C6B9-4B48-F6E6-EF3F-56A394DAD272}"/>
              </a:ext>
            </a:extLst>
          </p:cNvPr>
          <p:cNvSpPr txBox="1"/>
          <p:nvPr/>
        </p:nvSpPr>
        <p:spPr>
          <a:xfrm>
            <a:off x="7162800" y="9137601"/>
            <a:ext cx="4963876" cy="281487"/>
          </a:xfrm>
          <a:prstGeom prst="rect">
            <a:avLst/>
          </a:prstGeom>
        </p:spPr>
        <p:txBody>
          <a:bodyPr lIns="0" tIns="0" rIns="0" bIns="0" rtlCol="0" anchor="t">
            <a:spAutoFit/>
          </a:bodyPr>
          <a:lstStyle/>
          <a:p>
            <a:pPr algn="ctr">
              <a:lnSpc>
                <a:spcPts val="2367"/>
              </a:lnSpc>
            </a:pPr>
            <a:r>
              <a:rPr lang="en-US" sz="1599" spc="46" dirty="0">
                <a:solidFill>
                  <a:srgbClr val="FFFFFF"/>
                </a:solidFill>
                <a:latin typeface="Montserrat"/>
                <a:ea typeface="Montserrat"/>
                <a:cs typeface="Montserrat"/>
                <a:sym typeface="Montserrat"/>
              </a:rPr>
              <a:t>© Aghe Marvellous || Data Analyst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929044" y="3730165"/>
            <a:ext cx="12429912" cy="2011031"/>
          </a:xfrm>
          <a:prstGeom prst="rect">
            <a:avLst/>
          </a:prstGeom>
        </p:spPr>
        <p:txBody>
          <a:bodyPr lIns="0" tIns="0" rIns="0" bIns="0" rtlCol="0" anchor="t">
            <a:spAutoFit/>
          </a:bodyPr>
          <a:lstStyle/>
          <a:p>
            <a:pPr algn="ctr">
              <a:lnSpc>
                <a:spcPts val="10789"/>
              </a:lnSpc>
            </a:pPr>
            <a:r>
              <a:rPr lang="en-US" sz="10374" b="1">
                <a:solidFill>
                  <a:srgbClr val="FFFFFF"/>
                </a:solidFill>
                <a:latin typeface="Prachason Neue Expanded Bold"/>
                <a:ea typeface="Prachason Neue Expanded Bold"/>
                <a:cs typeface="Prachason Neue Expanded Bold"/>
                <a:sym typeface="Prachason Neue Expanded Bold"/>
              </a:rPr>
              <a:t>THANK YOU</a:t>
            </a:r>
          </a:p>
        </p:txBody>
      </p:sp>
      <p:sp>
        <p:nvSpPr>
          <p:cNvPr id="3" name="TextBox 3"/>
          <p:cNvSpPr txBox="1"/>
          <p:nvPr/>
        </p:nvSpPr>
        <p:spPr>
          <a:xfrm>
            <a:off x="6861362" y="5674521"/>
            <a:ext cx="4940930" cy="435376"/>
          </a:xfrm>
          <a:prstGeom prst="rect">
            <a:avLst/>
          </a:prstGeom>
        </p:spPr>
        <p:txBody>
          <a:bodyPr lIns="0" tIns="0" rIns="0" bIns="0" rtlCol="0" anchor="t">
            <a:spAutoFit/>
          </a:bodyPr>
          <a:lstStyle/>
          <a:p>
            <a:pPr algn="ctr">
              <a:lnSpc>
                <a:spcPts val="3713"/>
              </a:lnSpc>
            </a:pPr>
            <a:r>
              <a:rPr lang="en-US" sz="2509" spc="582" dirty="0">
                <a:solidFill>
                  <a:srgbClr val="FFFFFF"/>
                </a:solidFill>
                <a:latin typeface="Montserrat"/>
                <a:ea typeface="Montserrat"/>
                <a:cs typeface="Montserrat"/>
                <a:sym typeface="Montserrat"/>
              </a:rPr>
              <a:t>Group 10</a:t>
            </a:r>
          </a:p>
        </p:txBody>
      </p:sp>
      <p:sp>
        <p:nvSpPr>
          <p:cNvPr id="4" name="Freeform 4"/>
          <p:cNvSpPr/>
          <p:nvPr/>
        </p:nvSpPr>
        <p:spPr>
          <a:xfrm>
            <a:off x="14745487" y="-4728560"/>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9773314" y="-9462119"/>
            <a:ext cx="12693341" cy="13630434"/>
          </a:xfrm>
          <a:custGeom>
            <a:avLst/>
            <a:gdLst/>
            <a:ahLst/>
            <a:cxnLst/>
            <a:rect l="l" t="t" r="r" b="b"/>
            <a:pathLst>
              <a:path w="12693341" h="13630434">
                <a:moveTo>
                  <a:pt x="0" y="0"/>
                </a:moveTo>
                <a:lnTo>
                  <a:pt x="12693341" y="0"/>
                </a:lnTo>
                <a:lnTo>
                  <a:pt x="12693341" y="13630434"/>
                </a:lnTo>
                <a:lnTo>
                  <a:pt x="0" y="13630434"/>
                </a:lnTo>
                <a:lnTo>
                  <a:pt x="0" y="0"/>
                </a:lnTo>
                <a:close/>
              </a:path>
            </a:pathLst>
          </a:custGeom>
          <a:blipFill>
            <a:blip r:embed="rId4"/>
            <a:stretch>
              <a:fillRect/>
            </a:stretch>
          </a:blipFill>
        </p:spPr>
        <p:txBody>
          <a:bodyPr/>
          <a:lstStyle/>
          <a:p>
            <a:endParaRPr lang="en-US"/>
          </a:p>
        </p:txBody>
      </p:sp>
      <p:sp>
        <p:nvSpPr>
          <p:cNvPr id="6" name="Freeform 6"/>
          <p:cNvSpPr/>
          <p:nvPr/>
        </p:nvSpPr>
        <p:spPr>
          <a:xfrm>
            <a:off x="-2399250" y="7362337"/>
            <a:ext cx="7309077" cy="7309077"/>
          </a:xfrm>
          <a:custGeom>
            <a:avLst/>
            <a:gdLst/>
            <a:ahLst/>
            <a:cxnLst/>
            <a:rect l="l" t="t" r="r" b="b"/>
            <a:pathLst>
              <a:path w="7309077" h="7309077">
                <a:moveTo>
                  <a:pt x="0" y="0"/>
                </a:moveTo>
                <a:lnTo>
                  <a:pt x="7309077" y="0"/>
                </a:lnTo>
                <a:lnTo>
                  <a:pt x="7309077" y="7309077"/>
                </a:lnTo>
                <a:lnTo>
                  <a:pt x="0" y="73090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23821" y="6915995"/>
            <a:ext cx="8381159" cy="8999903"/>
          </a:xfrm>
          <a:custGeom>
            <a:avLst/>
            <a:gdLst/>
            <a:ahLst/>
            <a:cxnLst/>
            <a:rect l="l" t="t" r="r" b="b"/>
            <a:pathLst>
              <a:path w="8381159" h="8999903">
                <a:moveTo>
                  <a:pt x="0" y="0"/>
                </a:moveTo>
                <a:lnTo>
                  <a:pt x="8381159" y="0"/>
                </a:lnTo>
                <a:lnTo>
                  <a:pt x="8381159" y="8999903"/>
                </a:lnTo>
                <a:lnTo>
                  <a:pt x="0" y="8999903"/>
                </a:lnTo>
                <a:lnTo>
                  <a:pt x="0" y="0"/>
                </a:lnTo>
                <a:close/>
              </a:path>
            </a:pathLst>
          </a:custGeom>
          <a:blipFill>
            <a:blip r:embed="rId4"/>
            <a:stretch>
              <a:fillRect/>
            </a:stretch>
          </a:blipFill>
        </p:spPr>
        <p:txBody>
          <a:bodyPr/>
          <a:lstStyle/>
          <a:p>
            <a:endParaRPr lang="en-US"/>
          </a:p>
        </p:txBody>
      </p:sp>
      <p:pic>
        <p:nvPicPr>
          <p:cNvPr id="8" name="Picture 7">
            <a:extLst>
              <a:ext uri="{FF2B5EF4-FFF2-40B4-BE49-F238E27FC236}">
                <a16:creationId xmlns:a16="http://schemas.microsoft.com/office/drawing/2014/main" id="{EA6CD4D4-56B1-4163-93EF-8D6ED387E8BB}"/>
              </a:ext>
            </a:extLst>
          </p:cNvPr>
          <p:cNvPicPr>
            <a:picLocks noChangeAspect="1"/>
          </p:cNvPicPr>
          <p:nvPr/>
        </p:nvPicPr>
        <p:blipFill>
          <a:blip r:embed="rId5"/>
          <a:stretch>
            <a:fillRect/>
          </a:stretch>
        </p:blipFill>
        <p:spPr>
          <a:xfrm>
            <a:off x="-324152" y="0"/>
            <a:ext cx="3157135" cy="1770743"/>
          </a:xfrm>
          <a:prstGeom prst="rect">
            <a:avLst/>
          </a:prstGeom>
          <a:ln>
            <a:noFill/>
          </a:ln>
        </p:spPr>
      </p:pic>
      <p:sp>
        <p:nvSpPr>
          <p:cNvPr id="9" name="TextBox 3">
            <a:extLst>
              <a:ext uri="{FF2B5EF4-FFF2-40B4-BE49-F238E27FC236}">
                <a16:creationId xmlns:a16="http://schemas.microsoft.com/office/drawing/2014/main" id="{B380B8AC-CA66-A547-2D73-F88ED7D1BD44}"/>
              </a:ext>
            </a:extLst>
          </p:cNvPr>
          <p:cNvSpPr txBox="1"/>
          <p:nvPr/>
        </p:nvSpPr>
        <p:spPr>
          <a:xfrm>
            <a:off x="5486400" y="6362700"/>
            <a:ext cx="7804465" cy="874727"/>
          </a:xfrm>
          <a:prstGeom prst="rect">
            <a:avLst/>
          </a:prstGeom>
        </p:spPr>
        <p:txBody>
          <a:bodyPr wrap="square" lIns="0" tIns="0" rIns="0" bIns="0" rtlCol="0" anchor="t">
            <a:spAutoFit/>
          </a:bodyPr>
          <a:lstStyle/>
          <a:p>
            <a:pPr algn="ctr">
              <a:lnSpc>
                <a:spcPts val="3713"/>
              </a:lnSpc>
            </a:pPr>
            <a:r>
              <a:rPr lang="en-US" sz="2509" spc="582" dirty="0">
                <a:solidFill>
                  <a:srgbClr val="FFFFFF"/>
                </a:solidFill>
                <a:latin typeface="Montserrat"/>
                <a:ea typeface="Montserrat"/>
                <a:cs typeface="Montserrat"/>
                <a:sym typeface="Montserrat"/>
              </a:rPr>
              <a:t>Presented by: Aghe Marvellous </a:t>
            </a:r>
            <a:br>
              <a:rPr lang="en-US" sz="2509" spc="582" dirty="0">
                <a:solidFill>
                  <a:srgbClr val="FFFFFF"/>
                </a:solidFill>
                <a:latin typeface="Montserrat"/>
                <a:ea typeface="Montserrat"/>
                <a:cs typeface="Montserrat"/>
                <a:sym typeface="Montserrat"/>
              </a:rPr>
            </a:br>
            <a:r>
              <a:rPr lang="en-US" sz="1200" i="1" spc="582" dirty="0">
                <a:solidFill>
                  <a:srgbClr val="FFFFFF"/>
                </a:solidFill>
                <a:latin typeface="Lucida Calligraphy" panose="03010101010101010101" pitchFamily="66" charset="0"/>
                <a:ea typeface="Montserrat"/>
                <a:cs typeface="Montserrat"/>
                <a:sym typeface="Montserrat"/>
              </a:rPr>
              <a:t>@Aghe Marvellous</a:t>
            </a:r>
          </a:p>
        </p:txBody>
      </p:sp>
      <p:sp>
        <p:nvSpPr>
          <p:cNvPr id="10" name="TextBox 8">
            <a:extLst>
              <a:ext uri="{FF2B5EF4-FFF2-40B4-BE49-F238E27FC236}">
                <a16:creationId xmlns:a16="http://schemas.microsoft.com/office/drawing/2014/main" id="{E004DBA7-2A80-EA8A-B8CD-4E53A3EC126A}"/>
              </a:ext>
            </a:extLst>
          </p:cNvPr>
          <p:cNvSpPr txBox="1"/>
          <p:nvPr/>
        </p:nvSpPr>
        <p:spPr>
          <a:xfrm>
            <a:off x="13638046" y="9563100"/>
            <a:ext cx="4963876" cy="281487"/>
          </a:xfrm>
          <a:prstGeom prst="rect">
            <a:avLst/>
          </a:prstGeom>
        </p:spPr>
        <p:txBody>
          <a:bodyPr lIns="0" tIns="0" rIns="0" bIns="0" rtlCol="0" anchor="t">
            <a:spAutoFit/>
          </a:bodyPr>
          <a:lstStyle/>
          <a:p>
            <a:pPr algn="ctr">
              <a:lnSpc>
                <a:spcPts val="2367"/>
              </a:lnSpc>
            </a:pPr>
            <a:r>
              <a:rPr lang="en-US" sz="1400" spc="46" dirty="0">
                <a:solidFill>
                  <a:srgbClr val="FFFFFF"/>
                </a:solidFill>
                <a:latin typeface="Montserrat"/>
                <a:ea typeface="Montserrat"/>
                <a:cs typeface="Montserrat"/>
                <a:sym typeface="Montserrat"/>
              </a:rPr>
              <a:t>© Aghe Marvellous || Data Analyst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661</TotalTime>
  <Words>1811</Words>
  <Application>Microsoft Office PowerPoint</Application>
  <PresentationFormat>Custom</PresentationFormat>
  <Paragraphs>202</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Montserrat</vt:lpstr>
      <vt:lpstr>Arial</vt:lpstr>
      <vt:lpstr>Prachason Neue Expanded</vt:lpstr>
      <vt:lpstr>Calibri</vt:lpstr>
      <vt:lpstr>Prachason Neue Expanded Bold</vt:lpstr>
      <vt:lpstr>Lucida Calligraphy</vt:lpstr>
      <vt:lpstr>Montserrat Medium</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Grey 3D Shapes Tech Company Presentation</dc:title>
  <dc:creator>MARVELLOUS AGHE</dc:creator>
  <cp:lastModifiedBy>Aghe Marvellous</cp:lastModifiedBy>
  <cp:revision>11</cp:revision>
  <dcterms:created xsi:type="dcterms:W3CDTF">2006-08-16T00:00:00Z</dcterms:created>
  <dcterms:modified xsi:type="dcterms:W3CDTF">2026-02-06T13:34:13Z</dcterms:modified>
  <dc:identifier>DAG7Ztruyfg</dc:identifier>
</cp:coreProperties>
</file>